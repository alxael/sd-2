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82" r:id="rId17"/>
    <p:sldId id="278" r:id="rId18"/>
    <p:sldId id="272" r:id="rId19"/>
    <p:sldId id="279" r:id="rId20"/>
    <p:sldId id="280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5" r:id="rId32"/>
    <p:sldId id="293" r:id="rId33"/>
    <p:sldId id="296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22"/>
    <p:restoredTop sz="81314"/>
  </p:normalViewPr>
  <p:slideViewPr>
    <p:cSldViewPr snapToGrid="0">
      <p:cViewPr>
        <p:scale>
          <a:sx n="99" d="100"/>
          <a:sy n="99" d="100"/>
        </p:scale>
        <p:origin x="-1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61E65D-9E5F-E34F-8673-C3E4C316E5E2}" type="datetimeFigureOut">
              <a:rPr lang="en-US" smtClean="0"/>
              <a:t>6/27/26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82D004-234B-CD4D-AC19-A74A7818D3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359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2D004-234B-CD4D-AC19-A74A7818D34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244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2D004-234B-CD4D-AC19-A74A7818D34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6796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2D004-234B-CD4D-AC19-A74A7818D34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370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82D004-234B-CD4D-AC19-A74A7818D34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010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149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531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134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972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6/27/26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951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6/27/26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568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6/27/26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052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128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6/27/26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96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089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015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6/27/26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477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C6E022A-7F2A-7A3D-89AB-CE925C1170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65" r="9091" b="1702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6A10D8F-D463-70E5-239B-17AD65EF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BE8CA9-DADE-6BAB-10C0-699B072F9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506" y="603315"/>
            <a:ext cx="5649211" cy="3685731"/>
          </a:xfrm>
        </p:spPr>
        <p:txBody>
          <a:bodyPr anchor="t">
            <a:normAutofit/>
          </a:bodyPr>
          <a:lstStyle/>
          <a:p>
            <a:pPr algn="l"/>
            <a:r>
              <a:rPr lang="en-US" sz="4600" dirty="0"/>
              <a:t>O </a:t>
            </a:r>
            <a:r>
              <a:rPr lang="en-US" sz="4600" dirty="0" err="1"/>
              <a:t>funcție</a:t>
            </a:r>
            <a:r>
              <a:rPr lang="en-US" sz="4600" dirty="0"/>
              <a:t> hash </a:t>
            </a:r>
            <a:r>
              <a:rPr lang="en-US" sz="4600" dirty="0" err="1"/>
              <a:t>paralelizabilă</a:t>
            </a:r>
            <a:r>
              <a:rPr lang="en-US" sz="4600" dirty="0"/>
              <a:t> </a:t>
            </a:r>
            <a:r>
              <a:rPr lang="en-US" sz="4600" dirty="0" err="1"/>
              <a:t>bazată</a:t>
            </a:r>
            <a:r>
              <a:rPr lang="en-US" sz="4600" dirty="0"/>
              <a:t> pe </a:t>
            </a:r>
            <a:r>
              <a:rPr lang="en-US" sz="4600" dirty="0" err="1"/>
              <a:t>sisteme</a:t>
            </a:r>
            <a:r>
              <a:rPr lang="en-US" sz="4600" dirty="0"/>
              <a:t> </a:t>
            </a:r>
            <a:r>
              <a:rPr lang="en-US" sz="4600" dirty="0" err="1"/>
              <a:t>dinamice</a:t>
            </a:r>
            <a:r>
              <a:rPr lang="en-US" sz="4600" dirty="0"/>
              <a:t> discrete </a:t>
            </a:r>
            <a:r>
              <a:rPr lang="en-US" sz="4600" dirty="0" err="1"/>
              <a:t>haotice</a:t>
            </a:r>
            <a:endParaRPr lang="en-US" sz="4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AF442C-29E3-378F-18D0-28AC3F33BD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507" y="4437176"/>
            <a:ext cx="4007587" cy="1290807"/>
          </a:xfrm>
        </p:spPr>
        <p:txBody>
          <a:bodyPr anchor="ctr">
            <a:normAutofit/>
          </a:bodyPr>
          <a:lstStyle/>
          <a:p>
            <a:pPr algn="l"/>
            <a:r>
              <a:rPr lang="en-US" sz="2200" dirty="0"/>
              <a:t>Aelenei Alex-Ioan</a:t>
            </a:r>
          </a:p>
        </p:txBody>
      </p:sp>
    </p:spTree>
    <p:extLst>
      <p:ext uri="{BB962C8B-B14F-4D97-AF65-F5344CB8AC3E}">
        <p14:creationId xmlns:p14="http://schemas.microsoft.com/office/powerpoint/2010/main" val="25192340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1363D-FE59-D685-15C1-556191202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Funcții</a:t>
            </a:r>
            <a:r>
              <a:rPr lang="en-US" dirty="0"/>
              <a:t> hash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BFF5F-3252-2E1B-F73E-F5FB987F3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 </a:t>
            </a:r>
            <a:r>
              <a:rPr lang="en-US" dirty="0" err="1"/>
              <a:t>funcție</a:t>
            </a:r>
            <a:r>
              <a:rPr lang="en-US" dirty="0"/>
              <a:t> hash </a:t>
            </a:r>
            <a:r>
              <a:rPr lang="en-US" dirty="0" err="1"/>
              <a:t>este</a:t>
            </a:r>
            <a:r>
              <a:rPr lang="en-US" dirty="0"/>
              <a:t> o </a:t>
            </a:r>
            <a:r>
              <a:rPr lang="en-US" dirty="0" err="1"/>
              <a:t>primitivă</a:t>
            </a:r>
            <a:r>
              <a:rPr lang="en-US" dirty="0"/>
              <a:t> </a:t>
            </a:r>
            <a:r>
              <a:rPr lang="en-US" dirty="0" err="1"/>
              <a:t>criptografică</a:t>
            </a:r>
            <a:r>
              <a:rPr lang="en-US" dirty="0"/>
              <a:t> care </a:t>
            </a:r>
            <a:r>
              <a:rPr lang="en-US" dirty="0" err="1"/>
              <a:t>acceptă</a:t>
            </a:r>
            <a:r>
              <a:rPr lang="en-US" dirty="0"/>
              <a:t> un input de </a:t>
            </a:r>
            <a:r>
              <a:rPr lang="en-US" dirty="0" err="1"/>
              <a:t>dimensiune</a:t>
            </a:r>
            <a:r>
              <a:rPr lang="en-US" dirty="0"/>
              <a:t> </a:t>
            </a:r>
            <a:r>
              <a:rPr lang="en-US" dirty="0" err="1"/>
              <a:t>arbitrară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are un output de </a:t>
            </a:r>
            <a:r>
              <a:rPr lang="en-US" dirty="0" err="1"/>
              <a:t>lungime</a:t>
            </a:r>
            <a:r>
              <a:rPr lang="en-US" dirty="0"/>
              <a:t> </a:t>
            </a:r>
            <a:r>
              <a:rPr lang="en-US" dirty="0" err="1"/>
              <a:t>fixă</a:t>
            </a:r>
            <a:r>
              <a:rPr lang="en-US" dirty="0"/>
              <a:t>. </a:t>
            </a:r>
            <a:r>
              <a:rPr lang="en-US" dirty="0" err="1"/>
              <a:t>Funcțiile</a:t>
            </a:r>
            <a:r>
              <a:rPr lang="en-US" dirty="0"/>
              <a:t> hash au </a:t>
            </a:r>
            <a:r>
              <a:rPr lang="en-US" dirty="0" err="1"/>
              <a:t>niște</a:t>
            </a:r>
            <a:r>
              <a:rPr lang="en-US" dirty="0"/>
              <a:t> </a:t>
            </a:r>
            <a:r>
              <a:rPr lang="en-US" dirty="0" err="1"/>
              <a:t>proprietăți</a:t>
            </a:r>
            <a:r>
              <a:rPr lang="en-US" dirty="0"/>
              <a:t> bine definite: </a:t>
            </a:r>
            <a:r>
              <a:rPr lang="en-US" dirty="0" err="1"/>
              <a:t>rezistența</a:t>
            </a:r>
            <a:r>
              <a:rPr lang="en-US" dirty="0"/>
              <a:t> la </a:t>
            </a:r>
            <a:r>
              <a:rPr lang="en-US" dirty="0" err="1"/>
              <a:t>preimagine</a:t>
            </a:r>
            <a:r>
              <a:rPr lang="en-US" dirty="0"/>
              <a:t>, </a:t>
            </a:r>
            <a:r>
              <a:rPr lang="en-US" dirty="0" err="1"/>
              <a:t>rezistența</a:t>
            </a:r>
            <a:r>
              <a:rPr lang="en-US" dirty="0"/>
              <a:t> la a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preimagine</a:t>
            </a:r>
            <a:r>
              <a:rPr lang="en-US" dirty="0"/>
              <a:t>, </a:t>
            </a:r>
            <a:r>
              <a:rPr lang="en-US" dirty="0" err="1"/>
              <a:t>rezistența</a:t>
            </a:r>
            <a:r>
              <a:rPr lang="en-US" dirty="0"/>
              <a:t> la </a:t>
            </a:r>
            <a:r>
              <a:rPr lang="en-US" dirty="0" err="1"/>
              <a:t>colizuni</a:t>
            </a:r>
            <a:r>
              <a:rPr lang="en-US" dirty="0"/>
              <a:t>.</a:t>
            </a:r>
          </a:p>
          <a:p>
            <a:r>
              <a:rPr lang="en-US" dirty="0" err="1"/>
              <a:t>Funcții</a:t>
            </a:r>
            <a:r>
              <a:rPr lang="en-US" dirty="0"/>
              <a:t> hash des </a:t>
            </a:r>
            <a:r>
              <a:rPr lang="en-US" dirty="0" err="1"/>
              <a:t>utilizate</a:t>
            </a:r>
            <a:r>
              <a:rPr lang="en-US" dirty="0"/>
              <a:t> sunt MD5, SHA1, SHA2. Acestea sunt </a:t>
            </a:r>
            <a:r>
              <a:rPr lang="en-US" dirty="0" err="1"/>
              <a:t>bazate</a:t>
            </a:r>
            <a:r>
              <a:rPr lang="en-US" dirty="0"/>
              <a:t> pe </a:t>
            </a:r>
            <a:r>
              <a:rPr lang="en-US" dirty="0" err="1"/>
              <a:t>construcția</a:t>
            </a:r>
            <a:r>
              <a:rPr lang="en-US" dirty="0"/>
              <a:t> Merkle-</a:t>
            </a:r>
            <a:r>
              <a:rPr lang="en-US" dirty="0" err="1"/>
              <a:t>Damgard</a:t>
            </a:r>
            <a:r>
              <a:rPr lang="en-US" dirty="0"/>
              <a:t>, care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timp</a:t>
            </a:r>
            <a:r>
              <a:rPr lang="en-US" dirty="0"/>
              <a:t> s-a </a:t>
            </a:r>
            <a:r>
              <a:rPr lang="en-US" dirty="0" err="1"/>
              <a:t>dovedit</a:t>
            </a:r>
            <a:r>
              <a:rPr lang="en-US" dirty="0"/>
              <a:t> </a:t>
            </a:r>
            <a:r>
              <a:rPr lang="en-US" dirty="0" err="1"/>
              <a:t>vulnerabilă</a:t>
            </a:r>
            <a:r>
              <a:rPr lang="en-US" dirty="0"/>
              <a:t> la o </a:t>
            </a:r>
            <a:r>
              <a:rPr lang="en-US" dirty="0" err="1"/>
              <a:t>multitudine</a:t>
            </a:r>
            <a:r>
              <a:rPr lang="en-US" dirty="0"/>
              <a:t> de </a:t>
            </a:r>
            <a:r>
              <a:rPr lang="en-US" dirty="0" err="1"/>
              <a:t>atacuri</a:t>
            </a:r>
            <a:r>
              <a:rPr lang="en-US" dirty="0"/>
              <a:t>, </a:t>
            </a:r>
            <a:r>
              <a:rPr lang="en-US" dirty="0" err="1"/>
              <a:t>inclusiv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cu </a:t>
            </a:r>
            <a:r>
              <a:rPr lang="en-US" dirty="0" err="1"/>
              <a:t>preimgine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extinderea</a:t>
            </a:r>
            <a:r>
              <a:rPr lang="en-US" dirty="0"/>
              <a:t> </a:t>
            </a:r>
            <a:r>
              <a:rPr lang="en-US" dirty="0" err="1"/>
              <a:t>lungimii</a:t>
            </a:r>
            <a:r>
              <a:rPr lang="en-US" dirty="0"/>
              <a:t> </a:t>
            </a:r>
            <a:r>
              <a:rPr lang="en-US" dirty="0" err="1"/>
              <a:t>mesajului</a:t>
            </a:r>
            <a:r>
              <a:rPr lang="en-US" dirty="0"/>
              <a:t>.</a:t>
            </a:r>
          </a:p>
          <a:p>
            <a:r>
              <a:rPr lang="en-US" dirty="0" err="1"/>
              <a:t>Având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vedere</a:t>
            </a:r>
            <a:r>
              <a:rPr lang="en-US" dirty="0"/>
              <a:t> </a:t>
            </a:r>
            <a:r>
              <a:rPr lang="en-US" dirty="0" err="1"/>
              <a:t>acest</a:t>
            </a:r>
            <a:r>
              <a:rPr lang="en-US" dirty="0"/>
              <a:t> context, </a:t>
            </a:r>
            <a:r>
              <a:rPr lang="en-US" dirty="0" err="1"/>
              <a:t>apariția</a:t>
            </a:r>
            <a:r>
              <a:rPr lang="en-US" dirty="0"/>
              <a:t> SHA3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inevitabilă</a:t>
            </a:r>
            <a:r>
              <a:rPr lang="en-US" dirty="0"/>
              <a:t>. SHA3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cea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nouă</a:t>
            </a:r>
            <a:r>
              <a:rPr lang="en-US" dirty="0"/>
              <a:t> </a:t>
            </a:r>
            <a:r>
              <a:rPr lang="en-US" dirty="0" err="1"/>
              <a:t>familie</a:t>
            </a:r>
            <a:r>
              <a:rPr lang="en-US" dirty="0"/>
              <a:t> de </a:t>
            </a:r>
            <a:r>
              <a:rPr lang="en-US" dirty="0" err="1"/>
              <a:t>funcții</a:t>
            </a:r>
            <a:r>
              <a:rPr lang="en-US" dirty="0"/>
              <a:t> hash, </a:t>
            </a:r>
            <a:r>
              <a:rPr lang="en-US" dirty="0" err="1"/>
              <a:t>fiind</a:t>
            </a:r>
            <a:r>
              <a:rPr lang="en-US" dirty="0"/>
              <a:t> </a:t>
            </a:r>
            <a:r>
              <a:rPr lang="en-US" dirty="0" err="1"/>
              <a:t>adoptată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2015 de </a:t>
            </a:r>
            <a:r>
              <a:rPr lang="en-US" dirty="0" err="1"/>
              <a:t>către</a:t>
            </a:r>
            <a:r>
              <a:rPr lang="en-US" dirty="0"/>
              <a:t> NIST.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funcții</a:t>
            </a:r>
            <a:r>
              <a:rPr lang="en-US" dirty="0"/>
              <a:t> hash se </a:t>
            </a:r>
            <a:r>
              <a:rPr lang="en-US" dirty="0" err="1"/>
              <a:t>bazează</a:t>
            </a:r>
            <a:r>
              <a:rPr lang="en-US" dirty="0"/>
              <a:t> pe </a:t>
            </a:r>
            <a:r>
              <a:rPr lang="en-US" dirty="0" err="1"/>
              <a:t>construcția</a:t>
            </a:r>
            <a:r>
              <a:rPr lang="en-US" dirty="0"/>
              <a:t> Sponge, o </a:t>
            </a:r>
            <a:r>
              <a:rPr lang="en-US" dirty="0" err="1"/>
              <a:t>construcție</a:t>
            </a:r>
            <a:r>
              <a:rPr lang="en-US" dirty="0"/>
              <a:t> care </a:t>
            </a:r>
            <a:r>
              <a:rPr lang="en-US" dirty="0" err="1"/>
              <a:t>adresează</a:t>
            </a:r>
            <a:r>
              <a:rPr lang="en-US" dirty="0"/>
              <a:t> </a:t>
            </a:r>
            <a:r>
              <a:rPr lang="en-US" dirty="0" err="1"/>
              <a:t>probleme</a:t>
            </a:r>
            <a:r>
              <a:rPr lang="en-US" dirty="0"/>
              <a:t> </a:t>
            </a:r>
            <a:r>
              <a:rPr lang="en-US" dirty="0" err="1"/>
              <a:t>structurale</a:t>
            </a:r>
            <a:r>
              <a:rPr lang="en-US" dirty="0"/>
              <a:t> ale </a:t>
            </a:r>
            <a:r>
              <a:rPr lang="en-US" dirty="0" err="1"/>
              <a:t>construcției</a:t>
            </a:r>
            <a:r>
              <a:rPr lang="en-US" dirty="0"/>
              <a:t> Merkle-</a:t>
            </a:r>
            <a:r>
              <a:rPr lang="en-US" dirty="0" err="1"/>
              <a:t>Damgard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7824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9EFAED-A67E-596A-E95C-5ACA9F9D2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anchor="b">
            <a:normAutofit/>
          </a:bodyPr>
          <a:lstStyle/>
          <a:p>
            <a:r>
              <a:rPr lang="en-US" dirty="0" err="1"/>
              <a:t>Construcția</a:t>
            </a:r>
            <a:r>
              <a:rPr lang="en-US" dirty="0"/>
              <a:t> sponge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380EF74-2BDD-69DD-136F-0F328B211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5862396" cy="409651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500" dirty="0" err="1"/>
              <a:t>Construcția</a:t>
            </a:r>
            <a:r>
              <a:rPr lang="en-US" sz="1500" dirty="0"/>
              <a:t> Sponge </a:t>
            </a:r>
            <a:r>
              <a:rPr lang="en-US" sz="1500" dirty="0" err="1"/>
              <a:t>este</a:t>
            </a:r>
            <a:r>
              <a:rPr lang="en-US" sz="1500" dirty="0"/>
              <a:t> o </a:t>
            </a:r>
            <a:r>
              <a:rPr lang="en-US" sz="1500" dirty="0" err="1"/>
              <a:t>schemă</a:t>
            </a:r>
            <a:r>
              <a:rPr lang="en-US" sz="1500" dirty="0"/>
              <a:t> de </a:t>
            </a:r>
            <a:r>
              <a:rPr lang="en-US" sz="1500" dirty="0" err="1"/>
              <a:t>proiectare</a:t>
            </a:r>
            <a:r>
              <a:rPr lang="en-US" sz="1500" dirty="0"/>
              <a:t> a </a:t>
            </a:r>
            <a:r>
              <a:rPr lang="en-US" sz="1500" dirty="0" err="1"/>
              <a:t>funcțiilor</a:t>
            </a:r>
            <a:r>
              <a:rPr lang="en-US" sz="1500" dirty="0"/>
              <a:t> hash care </a:t>
            </a:r>
            <a:r>
              <a:rPr lang="en-US" sz="1500" dirty="0" err="1"/>
              <a:t>operează</a:t>
            </a:r>
            <a:r>
              <a:rPr lang="en-US" sz="1500" dirty="0"/>
              <a:t> </a:t>
            </a:r>
            <a:r>
              <a:rPr lang="en-US" sz="1500" dirty="0" err="1"/>
              <a:t>asupra</a:t>
            </a:r>
            <a:r>
              <a:rPr lang="en-US" sz="1500" dirty="0"/>
              <a:t> </a:t>
            </a:r>
            <a:r>
              <a:rPr lang="en-US" sz="1500" dirty="0" err="1"/>
              <a:t>unei</a:t>
            </a:r>
            <a:r>
              <a:rPr lang="en-US" sz="1500" dirty="0"/>
              <a:t> </a:t>
            </a:r>
            <a:r>
              <a:rPr lang="en-US" sz="1500" dirty="0" err="1"/>
              <a:t>stări</a:t>
            </a:r>
            <a:r>
              <a:rPr lang="en-US" sz="1500" dirty="0"/>
              <a:t> interne de </a:t>
            </a:r>
            <a:r>
              <a:rPr lang="en-US" sz="1500" dirty="0" err="1"/>
              <a:t>lățime</a:t>
            </a:r>
            <a:r>
              <a:rPr lang="en-US" sz="1500" dirty="0"/>
              <a:t> 𝑏 </a:t>
            </a:r>
            <a:r>
              <a:rPr lang="en-US" sz="1500" dirty="0" err="1"/>
              <a:t>biți</a:t>
            </a:r>
            <a:r>
              <a:rPr lang="en-US" sz="1500" dirty="0"/>
              <a:t>. </a:t>
            </a:r>
            <a:r>
              <a:rPr lang="en-US" sz="1500" dirty="0" err="1"/>
              <a:t>Starea</a:t>
            </a:r>
            <a:r>
              <a:rPr lang="en-US" sz="1500" dirty="0"/>
              <a:t> </a:t>
            </a:r>
            <a:r>
              <a:rPr lang="en-US" sz="1500" dirty="0" err="1"/>
              <a:t>internă</a:t>
            </a:r>
            <a:r>
              <a:rPr lang="en-US" sz="1500" dirty="0"/>
              <a:t> </a:t>
            </a:r>
            <a:r>
              <a:rPr lang="en-US" sz="1500" dirty="0" err="1"/>
              <a:t>este</a:t>
            </a:r>
            <a:r>
              <a:rPr lang="en-US" sz="1500" dirty="0"/>
              <a:t> </a:t>
            </a:r>
            <a:r>
              <a:rPr lang="en-US" sz="1500" dirty="0" err="1"/>
              <a:t>împărțită</a:t>
            </a:r>
            <a:r>
              <a:rPr lang="en-US" sz="1500" dirty="0"/>
              <a:t> </a:t>
            </a:r>
            <a:r>
              <a:rPr lang="en-US" sz="1500" dirty="0" err="1"/>
              <a:t>într</a:t>
            </a:r>
            <a:r>
              <a:rPr lang="en-US" sz="1500" dirty="0"/>
              <a:t>-o </a:t>
            </a:r>
            <a:r>
              <a:rPr lang="en-US" sz="1500" dirty="0" err="1"/>
              <a:t>rată</a:t>
            </a:r>
            <a:r>
              <a:rPr lang="en-US" sz="1500" dirty="0"/>
              <a:t> 𝑟 </a:t>
            </a:r>
            <a:r>
              <a:rPr lang="en-US" sz="1500" dirty="0" err="1"/>
              <a:t>și</a:t>
            </a:r>
            <a:r>
              <a:rPr lang="en-US" sz="1500" dirty="0"/>
              <a:t> o capacitate 𝑐. </a:t>
            </a:r>
            <a:r>
              <a:rPr lang="en-US" sz="1500" dirty="0" err="1"/>
              <a:t>Asupra</a:t>
            </a:r>
            <a:r>
              <a:rPr lang="en-US" sz="1500" dirty="0"/>
              <a:t> </a:t>
            </a:r>
            <a:r>
              <a:rPr lang="en-US" sz="1500" dirty="0" err="1"/>
              <a:t>stării</a:t>
            </a:r>
            <a:r>
              <a:rPr lang="en-US" sz="1500" dirty="0"/>
              <a:t> interne se </a:t>
            </a:r>
            <a:r>
              <a:rPr lang="en-US" sz="1500" dirty="0" err="1"/>
              <a:t>aplică</a:t>
            </a:r>
            <a:r>
              <a:rPr lang="en-US" sz="1500" dirty="0"/>
              <a:t> </a:t>
            </a:r>
            <a:r>
              <a:rPr lang="en-US" sz="1500" dirty="0" err="1"/>
              <a:t>în</a:t>
            </a:r>
            <a:r>
              <a:rPr lang="en-US" sz="1500" dirty="0"/>
              <a:t> mod </a:t>
            </a:r>
            <a:r>
              <a:rPr lang="en-US" sz="1500" dirty="0" err="1"/>
              <a:t>repetat</a:t>
            </a:r>
            <a:r>
              <a:rPr lang="en-US" sz="1500" dirty="0"/>
              <a:t> o </a:t>
            </a:r>
            <a:r>
              <a:rPr lang="en-US" sz="1500" dirty="0" err="1"/>
              <a:t>permutare</a:t>
            </a:r>
            <a:r>
              <a:rPr lang="en-US" sz="1500" dirty="0"/>
              <a:t> </a:t>
            </a:r>
            <a:r>
              <a:rPr lang="en-US" sz="1500" dirty="0" err="1"/>
              <a:t>fixă</a:t>
            </a:r>
            <a:r>
              <a:rPr lang="en-US" sz="1500" dirty="0"/>
              <a:t> 𝑓.</a:t>
            </a:r>
          </a:p>
          <a:p>
            <a:pPr>
              <a:lnSpc>
                <a:spcPct val="110000"/>
              </a:lnSpc>
            </a:pPr>
            <a:r>
              <a:rPr lang="en-US" sz="1500" dirty="0" err="1"/>
              <a:t>Procesarea</a:t>
            </a:r>
            <a:r>
              <a:rPr lang="en-US" sz="1500" dirty="0"/>
              <a:t> se </a:t>
            </a:r>
            <a:r>
              <a:rPr lang="en-US" sz="1500" dirty="0" err="1"/>
              <a:t>desfășoară</a:t>
            </a:r>
            <a:r>
              <a:rPr lang="en-US" sz="1500" dirty="0"/>
              <a:t> </a:t>
            </a:r>
            <a:r>
              <a:rPr lang="en-US" sz="1500" dirty="0" err="1"/>
              <a:t>în</a:t>
            </a:r>
            <a:r>
              <a:rPr lang="en-US" sz="1500" dirty="0"/>
              <a:t> </a:t>
            </a:r>
            <a:r>
              <a:rPr lang="en-US" sz="1500" dirty="0" err="1"/>
              <a:t>două</a:t>
            </a:r>
            <a:r>
              <a:rPr lang="en-US" sz="1500" dirty="0"/>
              <a:t> faze: </a:t>
            </a:r>
            <a:r>
              <a:rPr lang="en-US" sz="1500" dirty="0" err="1"/>
              <a:t>în</a:t>
            </a:r>
            <a:r>
              <a:rPr lang="en-US" sz="1500" dirty="0"/>
              <a:t> </a:t>
            </a:r>
            <a:r>
              <a:rPr lang="en-US" sz="1500" dirty="0" err="1"/>
              <a:t>faza</a:t>
            </a:r>
            <a:r>
              <a:rPr lang="en-US" sz="1500" dirty="0"/>
              <a:t> de </a:t>
            </a:r>
            <a:r>
              <a:rPr lang="en-US" sz="1500" dirty="0" err="1"/>
              <a:t>absorbție</a:t>
            </a:r>
            <a:r>
              <a:rPr lang="en-US" sz="1500" dirty="0"/>
              <a:t>, </a:t>
            </a:r>
            <a:r>
              <a:rPr lang="en-US" sz="1500" dirty="0" err="1"/>
              <a:t>blocurile</a:t>
            </a:r>
            <a:r>
              <a:rPr lang="en-US" sz="1500" dirty="0"/>
              <a:t> </a:t>
            </a:r>
            <a:r>
              <a:rPr lang="en-US" sz="1500" dirty="0" err="1"/>
              <a:t>mesajului</a:t>
            </a:r>
            <a:r>
              <a:rPr lang="en-US" sz="1500" dirty="0"/>
              <a:t>, de </a:t>
            </a:r>
            <a:r>
              <a:rPr lang="en-US" sz="1500" dirty="0" err="1"/>
              <a:t>câte</a:t>
            </a:r>
            <a:r>
              <a:rPr lang="en-US" sz="1500" dirty="0"/>
              <a:t> 𝑟 </a:t>
            </a:r>
            <a:r>
              <a:rPr lang="en-US" sz="1500" dirty="0" err="1"/>
              <a:t>biți</a:t>
            </a:r>
            <a:r>
              <a:rPr lang="en-US" sz="1500" dirty="0"/>
              <a:t>, sunt XOR-ate cu </a:t>
            </a:r>
            <a:r>
              <a:rPr lang="en-US" sz="1500" dirty="0" err="1"/>
              <a:t>partea</a:t>
            </a:r>
            <a:r>
              <a:rPr lang="en-US" sz="1500" dirty="0"/>
              <a:t> de </a:t>
            </a:r>
            <a:r>
              <a:rPr lang="en-US" sz="1500" dirty="0" err="1"/>
              <a:t>rată</a:t>
            </a:r>
            <a:r>
              <a:rPr lang="en-US" sz="1500" dirty="0"/>
              <a:t> a </a:t>
            </a:r>
            <a:r>
              <a:rPr lang="en-US" sz="1500" dirty="0" err="1"/>
              <a:t>stării</a:t>
            </a:r>
            <a:r>
              <a:rPr lang="en-US" sz="1500" dirty="0"/>
              <a:t>. Ulterior se </a:t>
            </a:r>
            <a:r>
              <a:rPr lang="en-US" sz="1500" dirty="0" err="1"/>
              <a:t>aplică</a:t>
            </a:r>
            <a:r>
              <a:rPr lang="en-US" sz="1500" dirty="0"/>
              <a:t> </a:t>
            </a:r>
            <a:r>
              <a:rPr lang="en-US" sz="1500" dirty="0" err="1"/>
              <a:t>permutarea</a:t>
            </a:r>
            <a:r>
              <a:rPr lang="en-US" sz="1500" dirty="0"/>
              <a:t> 𝑓 .</a:t>
            </a:r>
          </a:p>
          <a:p>
            <a:pPr>
              <a:lnSpc>
                <a:spcPct val="110000"/>
              </a:lnSpc>
            </a:pPr>
            <a:r>
              <a:rPr lang="en-US" sz="1500" dirty="0" err="1"/>
              <a:t>În</a:t>
            </a:r>
            <a:r>
              <a:rPr lang="en-US" sz="1500" dirty="0"/>
              <a:t> </a:t>
            </a:r>
            <a:r>
              <a:rPr lang="en-US" sz="1500" dirty="0" err="1"/>
              <a:t>faza</a:t>
            </a:r>
            <a:r>
              <a:rPr lang="en-US" sz="1500" dirty="0"/>
              <a:t> de </a:t>
            </a:r>
            <a:r>
              <a:rPr lang="en-US" sz="1500" dirty="0" err="1"/>
              <a:t>stoarcere</a:t>
            </a:r>
            <a:r>
              <a:rPr lang="en-US" sz="1500" dirty="0"/>
              <a:t>, </a:t>
            </a:r>
            <a:r>
              <a:rPr lang="en-US" sz="1500" dirty="0" err="1"/>
              <a:t>biții</a:t>
            </a:r>
            <a:r>
              <a:rPr lang="en-US" sz="1500" dirty="0"/>
              <a:t> </a:t>
            </a:r>
            <a:r>
              <a:rPr lang="en-US" sz="1500" dirty="0" err="1"/>
              <a:t>pentru</a:t>
            </a:r>
            <a:r>
              <a:rPr lang="en-US" sz="1500" dirty="0"/>
              <a:t> hash sunt </a:t>
            </a:r>
            <a:r>
              <a:rPr lang="en-US" sz="1500" dirty="0" err="1"/>
              <a:t>extrași</a:t>
            </a:r>
            <a:r>
              <a:rPr lang="en-US" sz="1500" dirty="0"/>
              <a:t> din </a:t>
            </a:r>
            <a:r>
              <a:rPr lang="en-US" sz="1500" dirty="0" err="1"/>
              <a:t>partea</a:t>
            </a:r>
            <a:r>
              <a:rPr lang="en-US" sz="1500" dirty="0"/>
              <a:t> de </a:t>
            </a:r>
            <a:r>
              <a:rPr lang="en-US" sz="1500" dirty="0" err="1"/>
              <a:t>rată</a:t>
            </a:r>
            <a:r>
              <a:rPr lang="en-US" sz="1500" dirty="0"/>
              <a:t>, </a:t>
            </a:r>
            <a:r>
              <a:rPr lang="en-US" sz="1500" dirty="0" err="1"/>
              <a:t>intercalați</a:t>
            </a:r>
            <a:r>
              <a:rPr lang="en-US" sz="1500" dirty="0"/>
              <a:t> cu </a:t>
            </a:r>
            <a:r>
              <a:rPr lang="en-US" sz="1500" dirty="0" err="1"/>
              <a:t>aplicări</a:t>
            </a:r>
            <a:r>
              <a:rPr lang="en-US" sz="1500" dirty="0"/>
              <a:t> successive ale </a:t>
            </a:r>
            <a:r>
              <a:rPr lang="en-US" sz="1500" dirty="0" err="1"/>
              <a:t>lui</a:t>
            </a:r>
            <a:r>
              <a:rPr lang="en-US" sz="1500" dirty="0"/>
              <a:t> 𝑓 , </a:t>
            </a:r>
            <a:r>
              <a:rPr lang="en-US" sz="1500" dirty="0" err="1"/>
              <a:t>până</a:t>
            </a:r>
            <a:r>
              <a:rPr lang="en-US" sz="1500" dirty="0"/>
              <a:t> la </a:t>
            </a:r>
            <a:r>
              <a:rPr lang="en-US" sz="1500" dirty="0" err="1"/>
              <a:t>obținerea</a:t>
            </a:r>
            <a:r>
              <a:rPr lang="en-US" sz="1500" dirty="0"/>
              <a:t> </a:t>
            </a:r>
            <a:r>
              <a:rPr lang="en-US" sz="1500" dirty="0" err="1"/>
              <a:t>lungimii</a:t>
            </a:r>
            <a:r>
              <a:rPr lang="en-US" sz="1500" dirty="0"/>
              <a:t> </a:t>
            </a:r>
            <a:r>
              <a:rPr lang="en-US" sz="1500" dirty="0" err="1"/>
              <a:t>dorite</a:t>
            </a:r>
            <a:r>
              <a:rPr lang="en-US" sz="1500" dirty="0"/>
              <a:t> a hash-</a:t>
            </a:r>
            <a:r>
              <a:rPr lang="en-US" sz="1500" dirty="0" err="1"/>
              <a:t>ului</a:t>
            </a:r>
            <a:r>
              <a:rPr lang="en-US" sz="1500" dirty="0"/>
              <a:t>.</a:t>
            </a:r>
          </a:p>
          <a:p>
            <a:pPr>
              <a:lnSpc>
                <a:spcPct val="110000"/>
              </a:lnSpc>
            </a:pPr>
            <a:r>
              <a:rPr lang="en-US" sz="1500" dirty="0" err="1"/>
              <a:t>Capacitatea</a:t>
            </a:r>
            <a:r>
              <a:rPr lang="en-US" sz="1500" dirty="0"/>
              <a:t> 𝑐, care nu </a:t>
            </a:r>
            <a:r>
              <a:rPr lang="en-US" sz="1500" dirty="0" err="1"/>
              <a:t>este</a:t>
            </a:r>
            <a:r>
              <a:rPr lang="en-US" sz="1500" dirty="0"/>
              <a:t> </a:t>
            </a:r>
            <a:r>
              <a:rPr lang="en-US" sz="1500" dirty="0" err="1"/>
              <a:t>expusă</a:t>
            </a:r>
            <a:r>
              <a:rPr lang="en-US" sz="1500" dirty="0"/>
              <a:t> </a:t>
            </a:r>
            <a:r>
              <a:rPr lang="en-US" sz="1500" dirty="0" err="1"/>
              <a:t>niciodată</a:t>
            </a:r>
            <a:r>
              <a:rPr lang="en-US" sz="1500" dirty="0"/>
              <a:t> direct la </a:t>
            </a:r>
            <a:r>
              <a:rPr lang="en-US" sz="1500" dirty="0" err="1"/>
              <a:t>intrare</a:t>
            </a:r>
            <a:r>
              <a:rPr lang="en-US" sz="1500" dirty="0"/>
              <a:t> </a:t>
            </a:r>
            <a:r>
              <a:rPr lang="en-US" sz="1500" dirty="0" err="1"/>
              <a:t>sau</a:t>
            </a:r>
            <a:r>
              <a:rPr lang="en-US" sz="1500" dirty="0"/>
              <a:t> la </a:t>
            </a:r>
            <a:r>
              <a:rPr lang="en-US" sz="1500" dirty="0" err="1"/>
              <a:t>ieșire</a:t>
            </a:r>
            <a:r>
              <a:rPr lang="en-US" sz="1500" dirty="0"/>
              <a:t>, </a:t>
            </a:r>
            <a:r>
              <a:rPr lang="en-US" sz="1500" dirty="0" err="1"/>
              <a:t>aceasta</a:t>
            </a:r>
            <a:r>
              <a:rPr lang="en-US" sz="1500" dirty="0"/>
              <a:t> </a:t>
            </a:r>
            <a:r>
              <a:rPr lang="en-US" sz="1500" dirty="0" err="1"/>
              <a:t>determină</a:t>
            </a:r>
            <a:r>
              <a:rPr lang="en-US" sz="1500" dirty="0"/>
              <a:t> </a:t>
            </a:r>
            <a:r>
              <a:rPr lang="en-US" sz="1500" dirty="0" err="1"/>
              <a:t>nivelul</a:t>
            </a:r>
            <a:r>
              <a:rPr lang="en-US" sz="1500" dirty="0"/>
              <a:t> de </a:t>
            </a:r>
            <a:r>
              <a:rPr lang="en-US" sz="1500" dirty="0" err="1"/>
              <a:t>securitate</a:t>
            </a:r>
            <a:r>
              <a:rPr lang="en-US" sz="1500" dirty="0"/>
              <a:t> al </a:t>
            </a:r>
            <a:r>
              <a:rPr lang="en-US" sz="1500" dirty="0" err="1"/>
              <a:t>construcție</a:t>
            </a:r>
            <a:endParaRPr lang="en-US" sz="15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58E643-23AA-C0F9-4FF9-4E353D7A0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395" y="2401558"/>
            <a:ext cx="4681506" cy="2083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051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4B8143-3907-5396-F19C-4EDBFE8DE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A7F53F-650E-55B9-77F4-16BF26490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11019513" cy="1527048"/>
          </a:xfrm>
        </p:spPr>
        <p:txBody>
          <a:bodyPr anchor="b">
            <a:normAutofit/>
          </a:bodyPr>
          <a:lstStyle/>
          <a:p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haotice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E96CCF-C521-D353-74CD-929112903F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2648" y="2212848"/>
                <a:ext cx="11019514" cy="4096512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sz="1600" dirty="0"/>
                  <a:t>Un </a:t>
                </a:r>
                <a:r>
                  <a:rPr lang="en-US" sz="1600" dirty="0" err="1"/>
                  <a:t>sistem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dinamic</a:t>
                </a:r>
                <a:r>
                  <a:rPr lang="en-US" sz="1600" dirty="0"/>
                  <a:t> </a:t>
                </a:r>
                <a:r>
                  <a:rPr lang="en-US" sz="1600" dirty="0" err="1"/>
                  <a:t>este</a:t>
                </a:r>
                <a:r>
                  <a:rPr lang="en-US" sz="1600" dirty="0"/>
                  <a:t> o </a:t>
                </a:r>
                <a:r>
                  <a:rPr lang="en-US" sz="1600" dirty="0" err="1"/>
                  <a:t>relație</a:t>
                </a:r>
                <a:r>
                  <a:rPr lang="en-US" sz="1600" dirty="0"/>
                  <a:t> de </a:t>
                </a:r>
                <a:r>
                  <a:rPr lang="en-US" sz="1600" dirty="0" err="1"/>
                  <a:t>recurență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definită</a:t>
                </a:r>
                <a:r>
                  <a:rPr lang="en-US" sz="1600" dirty="0"/>
                  <a:t> de </a:t>
                </a:r>
                <a:r>
                  <a:rPr lang="en-US" sz="1600" dirty="0" err="1"/>
                  <a:t>tripletul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ro-RO" sz="16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ro-RO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ro-RO" sz="16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ro-RO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unde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este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spațiul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timpului</a:t>
                </a:r>
                <a:r>
                  <a:rPr lang="en-US" sz="1600" dirty="0"/>
                  <a:t>,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este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spațiul</a:t>
                </a:r>
                <a:r>
                  <a:rPr lang="en-US" sz="1600" dirty="0"/>
                  <a:t> de </a:t>
                </a:r>
                <a:r>
                  <a:rPr lang="en-US" sz="1600" dirty="0" err="1"/>
                  <a:t>stări</a:t>
                </a:r>
                <a:r>
                  <a:rPr lang="en-US" sz="1600" dirty="0"/>
                  <a:t>, </a:t>
                </a:r>
                <a:r>
                  <a:rPr lang="en-US" sz="1600" dirty="0" err="1"/>
                  <a:t>iar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ro-RO" sz="16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ro-RO" sz="16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o-RO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ro-RO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ro-RO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ro-RO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este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funcția</a:t>
                </a:r>
                <a:r>
                  <a:rPr lang="en-US" sz="1600" dirty="0"/>
                  <a:t> de </a:t>
                </a:r>
                <a:r>
                  <a:rPr lang="en-US" sz="1600" dirty="0" err="1"/>
                  <a:t>evoluție</a:t>
                </a:r>
                <a:r>
                  <a:rPr lang="en-US" sz="1600" dirty="0"/>
                  <a:t>.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sz="1600" dirty="0"/>
                  <a:t>Un </a:t>
                </a:r>
                <a:r>
                  <a:rPr lang="en-US" sz="1600" dirty="0" err="1"/>
                  <a:t>sistem</a:t>
                </a:r>
                <a:r>
                  <a:rPr lang="en-US" sz="1600" dirty="0"/>
                  <a:t> </a:t>
                </a:r>
                <a:r>
                  <a:rPr lang="en-US" sz="1600" dirty="0" err="1"/>
                  <a:t>este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definit</a:t>
                </a:r>
                <a:r>
                  <a:rPr lang="en-US" sz="1600" dirty="0"/>
                  <a:t> ca </a:t>
                </a:r>
                <a:r>
                  <a:rPr lang="en-US" sz="1600" dirty="0" err="1"/>
                  <a:t>fiind</a:t>
                </a:r>
                <a:r>
                  <a:rPr lang="en-US" sz="1600" dirty="0"/>
                  <a:t> </a:t>
                </a:r>
                <a:r>
                  <a:rPr lang="en-US" sz="1600" dirty="0" err="1"/>
                  <a:t>haotic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daca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îndeplinește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următoarele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trei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condiții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esențiale</a:t>
                </a:r>
                <a:r>
                  <a:rPr lang="en-US" sz="1600" dirty="0"/>
                  <a:t>: </a:t>
                </a:r>
                <a:r>
                  <a:rPr lang="en-US" sz="1600" dirty="0" err="1"/>
                  <a:t>sensibilitate</a:t>
                </a:r>
                <a:r>
                  <a:rPr lang="en-US" sz="1600" dirty="0"/>
                  <a:t> la </a:t>
                </a:r>
                <a:r>
                  <a:rPr lang="en-US" sz="1600" dirty="0" err="1"/>
                  <a:t>condițiile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inițiale</a:t>
                </a:r>
                <a:r>
                  <a:rPr lang="en-US" sz="1600" dirty="0"/>
                  <a:t>, </a:t>
                </a:r>
                <a:r>
                  <a:rPr lang="en-US" sz="1600" dirty="0" err="1"/>
                  <a:t>tranzitivitate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topologică</a:t>
                </a:r>
                <a:r>
                  <a:rPr lang="en-US" sz="1600" dirty="0"/>
                  <a:t> </a:t>
                </a:r>
                <a:r>
                  <a:rPr lang="en-US" sz="1600" dirty="0" err="1"/>
                  <a:t>și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faptul</a:t>
                </a:r>
                <a:r>
                  <a:rPr lang="en-US" sz="1600" dirty="0"/>
                  <a:t> </a:t>
                </a:r>
                <a:r>
                  <a:rPr lang="en-US" sz="1600" dirty="0" err="1"/>
                  <a:t>că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mulțimea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orbitelor</a:t>
                </a:r>
                <a:r>
                  <a:rPr lang="en-US" sz="1600" dirty="0"/>
                  <a:t> </a:t>
                </a:r>
                <a:r>
                  <a:rPr lang="en-US" sz="1600" dirty="0" err="1"/>
                  <a:t>periodice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este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densă</a:t>
                </a:r>
                <a:r>
                  <a:rPr lang="en-US" sz="1600" dirty="0"/>
                  <a:t>.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sz="1600" dirty="0" err="1"/>
                  <a:t>Exponentul</a:t>
                </a:r>
                <a:r>
                  <a:rPr lang="en-US" sz="1600" dirty="0"/>
                  <a:t> Lyapunov </a:t>
                </a:r>
                <a:r>
                  <a:rPr lang="en-US" sz="1600" dirty="0" err="1"/>
                  <a:t>este</a:t>
                </a:r>
                <a:r>
                  <a:rPr lang="en-US" sz="1600" dirty="0"/>
                  <a:t> o </a:t>
                </a:r>
                <a:r>
                  <a:rPr lang="en-US" sz="1600" dirty="0" err="1"/>
                  <a:t>măsură</a:t>
                </a:r>
                <a:r>
                  <a:rPr lang="en-US" sz="1600" dirty="0"/>
                  <a:t> </a:t>
                </a:r>
                <a:r>
                  <a:rPr lang="en-US" sz="1600" dirty="0" err="1"/>
                  <a:t>algebrică</a:t>
                </a:r>
                <a:r>
                  <a:rPr lang="en-US" sz="1600" dirty="0"/>
                  <a:t> </a:t>
                </a:r>
                <a:r>
                  <a:rPr lang="en-US" sz="1600" dirty="0" err="1"/>
                  <a:t>pentru</a:t>
                </a:r>
                <a:r>
                  <a:rPr lang="en-US" sz="1600" dirty="0"/>
                  <a:t> </a:t>
                </a:r>
                <a:r>
                  <a:rPr lang="en-US" sz="1600" dirty="0" err="1"/>
                  <a:t>caracterul</a:t>
                </a:r>
                <a:r>
                  <a:rPr lang="en-US" sz="1600" dirty="0"/>
                  <a:t> </a:t>
                </a:r>
                <a:r>
                  <a:rPr lang="en-US" sz="1600" dirty="0" err="1"/>
                  <a:t>haotic</a:t>
                </a:r>
                <a:r>
                  <a:rPr lang="en-US" sz="1600" dirty="0"/>
                  <a:t> al </a:t>
                </a:r>
                <a:r>
                  <a:rPr lang="en-US" sz="1600" dirty="0" err="1"/>
                  <a:t>unui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sistem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dinamic</a:t>
                </a:r>
                <a:r>
                  <a:rPr lang="en-US" sz="1600" dirty="0"/>
                  <a:t>. </a:t>
                </a:r>
                <a:r>
                  <a:rPr lang="en-US" sz="1600" dirty="0" err="1"/>
                  <a:t>Acest</a:t>
                </a:r>
                <a:r>
                  <a:rPr lang="en-US" sz="1600" dirty="0"/>
                  <a:t> exponent </a:t>
                </a:r>
                <a:r>
                  <a:rPr lang="en-US" sz="1600" dirty="0" err="1"/>
                  <a:t>măsoară</a:t>
                </a:r>
                <a:r>
                  <a:rPr lang="en-US" sz="1600" dirty="0"/>
                  <a:t> rata </a:t>
                </a:r>
                <a:r>
                  <a:rPr lang="en-US" sz="1600" dirty="0" err="1"/>
                  <a:t>medie</a:t>
                </a:r>
                <a:r>
                  <a:rPr lang="en-US" sz="1600" dirty="0"/>
                  <a:t> de </a:t>
                </a:r>
                <a:r>
                  <a:rPr lang="en-US" sz="1600" dirty="0" err="1"/>
                  <a:t>separare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exponențială</a:t>
                </a:r>
                <a:r>
                  <a:rPr lang="en-US" sz="1600" dirty="0"/>
                  <a:t> a </a:t>
                </a:r>
                <a:r>
                  <a:rPr lang="en-US" sz="1600" dirty="0" err="1"/>
                  <a:t>două</a:t>
                </a:r>
                <a:r>
                  <a:rPr lang="en-US" sz="1600" dirty="0"/>
                  <a:t> </a:t>
                </a:r>
                <a:r>
                  <a:rPr lang="en-US" sz="1600" dirty="0" err="1"/>
                  <a:t>orbite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pornite</a:t>
                </a:r>
                <a:r>
                  <a:rPr lang="en-US" sz="1600" dirty="0"/>
                  <a:t> din </a:t>
                </a:r>
                <a:r>
                  <a:rPr lang="en-US" sz="1600" dirty="0" err="1"/>
                  <a:t>condiții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inițiale</a:t>
                </a:r>
                <a:r>
                  <a:rPr lang="en-US" sz="1600" dirty="0"/>
                  <a:t> infinitesimal de </a:t>
                </a:r>
                <a:r>
                  <a:rPr lang="en-US" sz="1600" dirty="0" err="1"/>
                  <a:t>apropriate</a:t>
                </a:r>
                <a:r>
                  <a:rPr lang="en-US" sz="1600" dirty="0"/>
                  <a:t>.</a:t>
                </a:r>
              </a:p>
              <a:p>
                <a:pPr marL="228600" lvl="1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func>
                        <m:func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fName>
                        <m:e>
                          <m:f>
                            <m:f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𝑙𝑛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’</m:t>
                                  </m:r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en-US" sz="1600" dirty="0"/>
              </a:p>
              <a:p>
                <a:pPr marL="228600" lvl="1" indent="0">
                  <a:lnSpc>
                    <a:spcPct val="110000"/>
                  </a:lnSpc>
                  <a:buNone/>
                </a:pPr>
                <a:r>
                  <a:rPr lang="en-US" sz="1600" dirty="0"/>
                  <a:t>Astfel, </a:t>
                </a:r>
                <a:r>
                  <a:rPr lang="en-US" sz="1600" dirty="0" err="1"/>
                  <a:t>pentru</a:t>
                </a:r>
                <a:r>
                  <a:rPr lang="en-US" sz="1600" dirty="0"/>
                  <a:t> o </a:t>
                </a:r>
                <a:r>
                  <a:rPr lang="en-US" sz="1600" dirty="0" err="1"/>
                  <a:t>perturbație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inițială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distanța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dintre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traiectoriile</a:t>
                </a:r>
                <a:r>
                  <a:rPr lang="en-US" sz="1600" dirty="0"/>
                  <a:t> lor </a:t>
                </a:r>
                <a:r>
                  <a:rPr lang="en-US" sz="1600" dirty="0" err="1"/>
                  <a:t>crește</a:t>
                </a:r>
                <a:r>
                  <a:rPr lang="en-US" sz="1600" dirty="0"/>
                  <a:t>, </a:t>
                </a:r>
                <a:r>
                  <a:rPr lang="en-US" sz="1600" dirty="0" err="1"/>
                  <a:t>în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medie</a:t>
                </a:r>
                <a:r>
                  <a:rPr lang="en-US" sz="1600" dirty="0"/>
                  <a:t>, </a:t>
                </a:r>
                <a:r>
                  <a:rPr lang="en-US" sz="1600" dirty="0" err="1"/>
                  <a:t>exponențial</a:t>
                </a:r>
                <a:r>
                  <a:rPr lang="en-US" sz="1600" dirty="0"/>
                  <a:t> cu </a:t>
                </a:r>
                <a:r>
                  <a:rPr lang="en-US" sz="1600" dirty="0" err="1"/>
                  <a:t>numărul</a:t>
                </a:r>
                <a:r>
                  <a:rPr lang="en-US" sz="1600" dirty="0"/>
                  <a:t> de </a:t>
                </a:r>
                <a:r>
                  <a:rPr lang="en-US" sz="1600" dirty="0" err="1"/>
                  <a:t>iterații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600" dirty="0"/>
                  <a:t>. </a:t>
                </a:r>
                <a:r>
                  <a:rPr lang="en-US" sz="1600" dirty="0" err="1"/>
                  <a:t>Practic</a:t>
                </a:r>
                <a:r>
                  <a:rPr lang="en-US" sz="1600" dirty="0"/>
                  <a:t>, </a:t>
                </a:r>
                <a:r>
                  <a:rPr lang="en-US" sz="1600" dirty="0" err="1"/>
                  <a:t>dacă</a:t>
                </a:r>
                <a:r>
                  <a:rPr lang="en-US" sz="1600" dirty="0"/>
                  <a:t> un </a:t>
                </a:r>
                <a:r>
                  <a:rPr lang="en-US" sz="1600" dirty="0" err="1"/>
                  <a:t>sistem</a:t>
                </a:r>
                <a:r>
                  <a:rPr lang="en-US" sz="1600" dirty="0"/>
                  <a:t> are </a:t>
                </a:r>
                <a:r>
                  <a:rPr lang="en-US" sz="1600" dirty="0" err="1"/>
                  <a:t>exponentul</a:t>
                </a:r>
                <a:r>
                  <a:rPr lang="en-US" sz="1600" dirty="0"/>
                  <a:t> Lyapunov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atunci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sistemul</a:t>
                </a:r>
                <a:r>
                  <a:rPr lang="en-US" sz="1600" dirty="0"/>
                  <a:t> </a:t>
                </a:r>
                <a:r>
                  <a:rPr lang="en-US" sz="1600" dirty="0" err="1"/>
                  <a:t>poate</a:t>
                </a:r>
                <a:r>
                  <a:rPr lang="en-US" sz="1600" dirty="0"/>
                  <a:t> fi </a:t>
                </a:r>
                <a:r>
                  <a:rPr lang="en-US" sz="1600" dirty="0" err="1"/>
                  <a:t>considerat</a:t>
                </a:r>
                <a:r>
                  <a:rPr lang="en-US" sz="1600" dirty="0"/>
                  <a:t> </a:t>
                </a:r>
                <a:r>
                  <a:rPr lang="en-US" sz="1600" dirty="0" err="1"/>
                  <a:t>haotic</a:t>
                </a:r>
                <a:r>
                  <a:rPr lang="en-US" sz="16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E96CCF-C521-D353-74CD-929112903F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2648" y="2212848"/>
                <a:ext cx="11019514" cy="4096512"/>
              </a:xfrm>
              <a:blipFill>
                <a:blip r:embed="rId2"/>
                <a:stretch>
                  <a:fillRect l="-230" t="-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5001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B7B11-24B4-2619-72EE-BC96725B5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Sistemele</a:t>
            </a:r>
            <a:r>
              <a:rPr lang="en-US" dirty="0"/>
              <a:t> </a:t>
            </a:r>
            <a:r>
              <a:rPr lang="en-US" dirty="0" err="1"/>
              <a:t>haotice</a:t>
            </a:r>
            <a:r>
              <a:rPr lang="en-US" dirty="0"/>
              <a:t> </a:t>
            </a:r>
            <a:r>
              <a:rPr lang="en-US" dirty="0" err="1"/>
              <a:t>utilizate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D1E08-2B79-17A4-307B-F15C1DA5A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277471"/>
            <a:ext cx="10653579" cy="5031889"/>
          </a:xfrm>
        </p:spPr>
        <p:txBody>
          <a:bodyPr>
            <a:normAutofit/>
          </a:bodyPr>
          <a:lstStyle/>
          <a:p>
            <a:r>
              <a:rPr lang="en-US" sz="1600" dirty="0" err="1"/>
              <a:t>Sistemele</a:t>
            </a:r>
            <a:r>
              <a:rPr lang="en-US" sz="1600" dirty="0"/>
              <a:t> </a:t>
            </a:r>
            <a:r>
              <a:rPr lang="en-US" sz="1600" dirty="0" err="1"/>
              <a:t>haotice</a:t>
            </a:r>
            <a:r>
              <a:rPr lang="en-US" sz="1600" dirty="0"/>
              <a:t> au </a:t>
            </a:r>
            <a:r>
              <a:rPr lang="en-US" sz="1600" dirty="0" err="1"/>
              <a:t>fost</a:t>
            </a:r>
            <a:r>
              <a:rPr lang="en-US" sz="1600" dirty="0"/>
              <a:t> </a:t>
            </a:r>
            <a:r>
              <a:rPr lang="en-US" sz="1600" dirty="0" err="1"/>
              <a:t>utilizate</a:t>
            </a:r>
            <a:r>
              <a:rPr lang="en-US" sz="1600" dirty="0"/>
              <a:t> </a:t>
            </a:r>
            <a:r>
              <a:rPr lang="en-US" sz="1600" dirty="0" err="1"/>
              <a:t>în</a:t>
            </a:r>
            <a:r>
              <a:rPr lang="en-US" sz="1600" dirty="0"/>
              <a:t> </a:t>
            </a:r>
            <a:r>
              <a:rPr lang="en-US" sz="1600" dirty="0" err="1"/>
              <a:t>construcția</a:t>
            </a:r>
            <a:r>
              <a:rPr lang="en-US" sz="1600" dirty="0"/>
              <a:t> </a:t>
            </a:r>
            <a:r>
              <a:rPr lang="en-US" sz="1600" dirty="0" err="1"/>
              <a:t>acestei</a:t>
            </a:r>
            <a:r>
              <a:rPr lang="en-US" sz="1600" dirty="0"/>
              <a:t> </a:t>
            </a:r>
            <a:r>
              <a:rPr lang="en-US" sz="1600" dirty="0" err="1"/>
              <a:t>funcții</a:t>
            </a:r>
            <a:r>
              <a:rPr lang="en-US" sz="1600" dirty="0"/>
              <a:t> </a:t>
            </a:r>
            <a:r>
              <a:rPr lang="en-US" sz="1600" dirty="0" err="1"/>
              <a:t>pentru</a:t>
            </a:r>
            <a:r>
              <a:rPr lang="en-US" sz="1600" dirty="0"/>
              <a:t> </a:t>
            </a:r>
            <a:r>
              <a:rPr lang="en-US" sz="1600" dirty="0" err="1"/>
              <a:t>că</a:t>
            </a:r>
            <a:r>
              <a:rPr lang="en-US" sz="1600" dirty="0"/>
              <a:t> </a:t>
            </a:r>
            <a:r>
              <a:rPr lang="en-US" sz="1600" dirty="0" err="1"/>
              <a:t>securitatea</a:t>
            </a:r>
            <a:r>
              <a:rPr lang="en-US" sz="1600" dirty="0"/>
              <a:t> </a:t>
            </a:r>
            <a:r>
              <a:rPr lang="en-US" sz="1600" dirty="0" err="1"/>
              <a:t>sistemelor</a:t>
            </a:r>
            <a:r>
              <a:rPr lang="en-US" sz="1600" dirty="0"/>
              <a:t> </a:t>
            </a:r>
            <a:r>
              <a:rPr lang="en-US" sz="1600" dirty="0" err="1"/>
              <a:t>haotice</a:t>
            </a:r>
            <a:r>
              <a:rPr lang="en-US" sz="1600" dirty="0"/>
              <a:t> nu se </a:t>
            </a:r>
            <a:r>
              <a:rPr lang="en-US" sz="1600" dirty="0" err="1"/>
              <a:t>întemeiază</a:t>
            </a:r>
            <a:r>
              <a:rPr lang="en-US" sz="1600" dirty="0"/>
              <a:t> pe </a:t>
            </a:r>
            <a:r>
              <a:rPr lang="en-US" sz="1600" dirty="0" err="1"/>
              <a:t>nicio</a:t>
            </a:r>
            <a:r>
              <a:rPr lang="en-US" sz="1600" dirty="0"/>
              <a:t> </a:t>
            </a:r>
            <a:r>
              <a:rPr lang="en-US" sz="1600" dirty="0" err="1"/>
              <a:t>construcție</a:t>
            </a:r>
            <a:r>
              <a:rPr lang="en-US" sz="1600" dirty="0"/>
              <a:t> </a:t>
            </a:r>
            <a:r>
              <a:rPr lang="en-US" sz="1600" dirty="0" err="1"/>
              <a:t>euristică</a:t>
            </a:r>
            <a:r>
              <a:rPr lang="en-US" sz="1600" dirty="0"/>
              <a:t>.</a:t>
            </a:r>
          </a:p>
          <a:p>
            <a:r>
              <a:rPr lang="en-US" sz="1600" dirty="0"/>
              <a:t>Baker’s map are </a:t>
            </a:r>
            <a:r>
              <a:rPr lang="en-US" sz="1600" dirty="0" err="1"/>
              <a:t>următoarea</a:t>
            </a:r>
            <a:r>
              <a:rPr lang="en-US" sz="1600" dirty="0"/>
              <a:t> </a:t>
            </a:r>
            <a:r>
              <a:rPr lang="en-US" sz="1600" dirty="0" err="1"/>
              <a:t>relație</a:t>
            </a:r>
            <a:r>
              <a:rPr lang="en-US" sz="1600" dirty="0"/>
              <a:t> de </a:t>
            </a:r>
            <a:r>
              <a:rPr lang="en-US" sz="1600" dirty="0" err="1"/>
              <a:t>recurență</a:t>
            </a:r>
            <a:r>
              <a:rPr lang="en-US" sz="1600" dirty="0"/>
              <a:t>: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 err="1"/>
              <a:t>Gingerbreadman</a:t>
            </a:r>
            <a:r>
              <a:rPr lang="en-US" sz="1600" dirty="0"/>
              <a:t> map are </a:t>
            </a:r>
            <a:r>
              <a:rPr lang="en-US" sz="1600" dirty="0" err="1"/>
              <a:t>următoarea</a:t>
            </a:r>
            <a:r>
              <a:rPr lang="en-US" sz="1600" dirty="0"/>
              <a:t> </a:t>
            </a:r>
            <a:r>
              <a:rPr lang="en-US" sz="1600" dirty="0" err="1"/>
              <a:t>relație</a:t>
            </a:r>
            <a:r>
              <a:rPr lang="en-US" sz="1600" dirty="0"/>
              <a:t> de </a:t>
            </a:r>
            <a:r>
              <a:rPr lang="en-US" sz="1600" dirty="0" err="1"/>
              <a:t>recurență</a:t>
            </a:r>
            <a:r>
              <a:rPr lang="en-US" sz="1600" dirty="0"/>
              <a:t>: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Cele </a:t>
            </a:r>
            <a:r>
              <a:rPr lang="en-US" sz="1600" dirty="0" err="1"/>
              <a:t>două</a:t>
            </a:r>
            <a:r>
              <a:rPr lang="en-US" sz="1600" dirty="0"/>
              <a:t> </a:t>
            </a:r>
            <a:r>
              <a:rPr lang="en-US" sz="1600" dirty="0" err="1"/>
              <a:t>sisteme</a:t>
            </a:r>
            <a:r>
              <a:rPr lang="en-US" sz="1600" dirty="0"/>
              <a:t> se </a:t>
            </a:r>
            <a:r>
              <a:rPr lang="en-US" sz="1600" dirty="0" err="1"/>
              <a:t>completează</a:t>
            </a:r>
            <a:r>
              <a:rPr lang="en-US" sz="1600" dirty="0"/>
              <a:t> </a:t>
            </a:r>
            <a:r>
              <a:rPr lang="en-US" sz="1600" dirty="0" err="1"/>
              <a:t>reciproc</a:t>
            </a:r>
            <a:r>
              <a:rPr lang="en-US" sz="1600" dirty="0"/>
              <a:t> </a:t>
            </a:r>
            <a:r>
              <a:rPr lang="en-US" sz="1600" dirty="0" err="1"/>
              <a:t>tocmai</a:t>
            </a:r>
            <a:r>
              <a:rPr lang="en-US" sz="1600" dirty="0"/>
              <a:t> </a:t>
            </a:r>
            <a:r>
              <a:rPr lang="en-US" sz="1600" dirty="0" err="1"/>
              <a:t>prin</a:t>
            </a:r>
            <a:r>
              <a:rPr lang="en-US" sz="1600" dirty="0"/>
              <a:t> </a:t>
            </a:r>
            <a:r>
              <a:rPr lang="en-US" sz="1600" dirty="0" err="1"/>
              <a:t>slăbiciunile</a:t>
            </a:r>
            <a:r>
              <a:rPr lang="en-US" sz="1600" dirty="0"/>
              <a:t> lor. Baker’s map </a:t>
            </a:r>
            <a:r>
              <a:rPr lang="en-US" sz="1600" dirty="0" err="1"/>
              <a:t>oferă</a:t>
            </a:r>
            <a:r>
              <a:rPr lang="en-US" sz="1600" dirty="0"/>
              <a:t> o </a:t>
            </a:r>
            <a:r>
              <a:rPr lang="en-US" sz="1600" dirty="0" err="1"/>
              <a:t>amestecare</a:t>
            </a:r>
            <a:r>
              <a:rPr lang="en-US" sz="1600" dirty="0"/>
              <a:t> </a:t>
            </a:r>
            <a:r>
              <a:rPr lang="en-US" sz="1600" dirty="0" err="1"/>
              <a:t>uniformă</a:t>
            </a:r>
            <a:r>
              <a:rPr lang="en-US" sz="1600" dirty="0"/>
              <a:t> </a:t>
            </a:r>
            <a:r>
              <a:rPr lang="en-US" sz="1600" dirty="0" err="1"/>
              <a:t>și</a:t>
            </a:r>
            <a:r>
              <a:rPr lang="en-US" sz="1600" dirty="0"/>
              <a:t> </a:t>
            </a:r>
            <a:r>
              <a:rPr lang="en-US" sz="1600" dirty="0" err="1"/>
              <a:t>lipsită</a:t>
            </a:r>
            <a:r>
              <a:rPr lang="en-US" sz="1600" dirty="0"/>
              <a:t> de </a:t>
            </a:r>
            <a:r>
              <a:rPr lang="en-US" sz="1600" dirty="0" err="1"/>
              <a:t>insule</a:t>
            </a:r>
            <a:r>
              <a:rPr lang="en-US" sz="1600" dirty="0"/>
              <a:t> de stabilitate, </a:t>
            </a:r>
            <a:r>
              <a:rPr lang="en-US" sz="1600" dirty="0" err="1"/>
              <a:t>dar</a:t>
            </a:r>
            <a:r>
              <a:rPr lang="en-US" sz="1600" dirty="0"/>
              <a:t> </a:t>
            </a:r>
            <a:r>
              <a:rPr lang="en-US" sz="1600" dirty="0" err="1"/>
              <a:t>este</a:t>
            </a:r>
            <a:r>
              <a:rPr lang="en-US" sz="1600" dirty="0"/>
              <a:t> </a:t>
            </a:r>
            <a:r>
              <a:rPr lang="en-US" sz="1600" dirty="0" err="1"/>
              <a:t>liniară</a:t>
            </a:r>
            <a:r>
              <a:rPr lang="en-US" sz="1600" dirty="0"/>
              <a:t>. </a:t>
            </a:r>
            <a:r>
              <a:rPr lang="en-US" sz="1600" dirty="0" err="1"/>
              <a:t>Gingerbreadman</a:t>
            </a:r>
            <a:r>
              <a:rPr lang="en-US" sz="1600" dirty="0"/>
              <a:t> map </a:t>
            </a:r>
            <a:r>
              <a:rPr lang="en-US" sz="1600" dirty="0" err="1"/>
              <a:t>oferă</a:t>
            </a:r>
            <a:r>
              <a:rPr lang="en-US" sz="1600" dirty="0"/>
              <a:t> </a:t>
            </a:r>
            <a:r>
              <a:rPr lang="en-US" sz="1600" dirty="0" err="1"/>
              <a:t>neliniaritatea</a:t>
            </a:r>
            <a:r>
              <a:rPr lang="en-US" sz="1600" dirty="0"/>
              <a:t> </a:t>
            </a:r>
            <a:r>
              <a:rPr lang="en-US" sz="1600" dirty="0" err="1"/>
              <a:t>absentă</a:t>
            </a:r>
            <a:r>
              <a:rPr lang="en-US" sz="1600" dirty="0"/>
              <a:t> din prima, </a:t>
            </a:r>
            <a:r>
              <a:rPr lang="en-US" sz="1600" dirty="0" err="1"/>
              <a:t>dar</a:t>
            </a:r>
            <a:r>
              <a:rPr lang="en-US" sz="1600" dirty="0"/>
              <a:t> </a:t>
            </a:r>
            <a:r>
              <a:rPr lang="en-US" sz="1600" dirty="0" err="1"/>
              <a:t>conține</a:t>
            </a:r>
            <a:r>
              <a:rPr lang="en-US" sz="1600" dirty="0"/>
              <a:t> </a:t>
            </a:r>
            <a:r>
              <a:rPr lang="en-US" sz="1600" dirty="0" err="1"/>
              <a:t>regiuni</a:t>
            </a:r>
            <a:r>
              <a:rPr lang="en-US" sz="1600" dirty="0"/>
              <a:t> </a:t>
            </a:r>
            <a:r>
              <a:rPr lang="en-US" sz="1600" dirty="0" err="1"/>
              <a:t>cvasi-periodice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545264-6C2F-0C85-F120-8E7376C0E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354" y="2375537"/>
            <a:ext cx="5294780" cy="12879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CD7CCB-FA09-7AE3-09E2-8A64E793A2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373" y="4041177"/>
            <a:ext cx="3398746" cy="702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875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7B4472A-332B-71E5-8009-33841E7C3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C7CAA9-3A29-5C54-1215-BF19BE5D9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74" y="1635260"/>
            <a:ext cx="3348297" cy="22417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/>
              <a:t>Baker’s map – convergența exponentului Lyapunov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BF10A2-4188-F3FF-A2CF-0F37DA186D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44099" y="838689"/>
            <a:ext cx="7390808" cy="517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073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AB9B8B4-6AA0-6EC2-5180-35BA3CFC2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7EBBB-ABBC-9B03-13FE-445BD74B0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48640"/>
            <a:ext cx="10872216" cy="1132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Baker’s map – exponenții Lyapunov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5CF573-FD4D-DBAA-4AC8-3A9AC6F56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7" y="1380118"/>
            <a:ext cx="4929242" cy="49292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987FEC-8DB5-FF69-E7A0-7F3604762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026" y="1380118"/>
            <a:ext cx="4929242" cy="4929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681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AB9B8B4-6AA0-6EC2-5180-35BA3CFC2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A4DB80-E6F2-5B61-16E2-654B5F7A6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48640"/>
            <a:ext cx="10872216" cy="1132258"/>
          </a:xfrm>
        </p:spPr>
        <p:txBody>
          <a:bodyPr anchor="t">
            <a:normAutofit/>
          </a:bodyPr>
          <a:lstStyle/>
          <a:p>
            <a:r>
              <a:rPr lang="en-US" dirty="0" err="1"/>
              <a:t>Gingerbreadman</a:t>
            </a:r>
            <a:r>
              <a:rPr lang="en-US" dirty="0"/>
              <a:t> map – </a:t>
            </a:r>
            <a:r>
              <a:rPr lang="en-US" dirty="0" err="1"/>
              <a:t>exponenții</a:t>
            </a:r>
            <a:r>
              <a:rPr lang="en-US" dirty="0"/>
              <a:t> Lyapunov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8137B4-5B7B-2F82-4649-F05EE26ED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7" y="1555945"/>
            <a:ext cx="5018706" cy="50187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C00A1E-B3BA-1EA1-6222-26FDBE9C0D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8755" y="1555945"/>
            <a:ext cx="5018706" cy="5018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44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D70BF-F488-98D4-6BEC-4B5FB7DE0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Suprapunerea</a:t>
            </a:r>
            <a:r>
              <a:rPr lang="en-US" dirty="0"/>
              <a:t> </a:t>
            </a:r>
            <a:r>
              <a:rPr lang="en-US" dirty="0" err="1"/>
              <a:t>sistemelor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971EF-F6E9-ED41-BFF8-6CDDD9405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Cele </a:t>
            </a:r>
            <a:r>
              <a:rPr lang="en-US" dirty="0" err="1"/>
              <a:t>două</a:t>
            </a:r>
            <a:r>
              <a:rPr lang="en-US" dirty="0"/>
              <a:t> </a:t>
            </a:r>
            <a:r>
              <a:rPr lang="en-US" dirty="0" err="1"/>
              <a:t>sisteme</a:t>
            </a:r>
            <a:r>
              <a:rPr lang="en-US" dirty="0"/>
              <a:t> sunt </a:t>
            </a:r>
            <a:r>
              <a:rPr lang="en-US" dirty="0" err="1"/>
              <a:t>suprapuse</a:t>
            </a:r>
            <a:r>
              <a:rPr lang="en-US" dirty="0"/>
              <a:t> </a:t>
            </a:r>
            <a:r>
              <a:rPr lang="en-US" dirty="0" err="1"/>
              <a:t>astfel</a:t>
            </a:r>
            <a:r>
              <a:rPr lang="en-US" dirty="0"/>
              <a:t>: o </a:t>
            </a:r>
            <a:r>
              <a:rPr lang="en-US" dirty="0" err="1"/>
              <a:t>rundă</a:t>
            </a:r>
            <a:r>
              <a:rPr lang="en-US" dirty="0"/>
              <a:t> de Baker’s map, o </a:t>
            </a:r>
            <a:r>
              <a:rPr lang="en-US" dirty="0" err="1"/>
              <a:t>rundă</a:t>
            </a:r>
            <a:r>
              <a:rPr lang="en-US" dirty="0"/>
              <a:t> de </a:t>
            </a:r>
            <a:r>
              <a:rPr lang="en-US" dirty="0" err="1"/>
              <a:t>Gingerbreadman</a:t>
            </a:r>
            <a:r>
              <a:rPr lang="en-US" dirty="0"/>
              <a:t> map, </a:t>
            </a:r>
            <a:r>
              <a:rPr lang="en-US" dirty="0" err="1"/>
              <a:t>astfel</a:t>
            </a:r>
            <a:r>
              <a:rPr lang="en-US" dirty="0"/>
              <a:t>, </a:t>
            </a:r>
            <a:r>
              <a:rPr lang="en-US" dirty="0" err="1"/>
              <a:t>obținându</a:t>
            </a:r>
            <a:r>
              <a:rPr lang="en-US" dirty="0"/>
              <a:t>-se un nou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haotic</a:t>
            </a:r>
            <a:r>
              <a:rPr lang="en-US" dirty="0"/>
              <a:t>.</a:t>
            </a:r>
          </a:p>
          <a:p>
            <a:r>
              <a:rPr lang="en-US" dirty="0" err="1"/>
              <a:t>Alegerea</a:t>
            </a:r>
            <a:r>
              <a:rPr lang="en-US" dirty="0"/>
              <a:t> </a:t>
            </a:r>
            <a:r>
              <a:rPr lang="en-US" dirty="0" err="1"/>
              <a:t>celor</a:t>
            </a:r>
            <a:r>
              <a:rPr lang="en-US" dirty="0"/>
              <a:t> </a:t>
            </a:r>
            <a:r>
              <a:rPr lang="en-US" dirty="0" err="1"/>
              <a:t>două</a:t>
            </a:r>
            <a:r>
              <a:rPr lang="en-US" dirty="0"/>
              <a:t> </a:t>
            </a:r>
            <a:r>
              <a:rPr lang="en-US" dirty="0" err="1"/>
              <a:t>sisteme</a:t>
            </a:r>
            <a:r>
              <a:rPr lang="en-US" dirty="0"/>
              <a:t>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motivată</a:t>
            </a:r>
            <a:r>
              <a:rPr lang="en-US" dirty="0"/>
              <a:t> de </a:t>
            </a:r>
            <a:r>
              <a:rPr lang="en-US" dirty="0" err="1"/>
              <a:t>faptul</a:t>
            </a:r>
            <a:r>
              <a:rPr lang="en-US" dirty="0"/>
              <a:t> </a:t>
            </a:r>
            <a:r>
              <a:rPr lang="en-US" dirty="0" err="1"/>
              <a:t>că</a:t>
            </a:r>
            <a:r>
              <a:rPr lang="en-US" dirty="0"/>
              <a:t> </a:t>
            </a:r>
            <a:r>
              <a:rPr lang="en-US" dirty="0" err="1"/>
              <a:t>ambele</a:t>
            </a:r>
            <a:br>
              <a:rPr lang="en-US" dirty="0"/>
            </a:br>
            <a:r>
              <a:rPr lang="en-US" dirty="0" err="1"/>
              <a:t>prezintă</a:t>
            </a:r>
            <a:r>
              <a:rPr lang="en-US" dirty="0"/>
              <a:t> un </a:t>
            </a:r>
            <a:r>
              <a:rPr lang="en-US" dirty="0" err="1"/>
              <a:t>comportament</a:t>
            </a:r>
            <a:r>
              <a:rPr lang="en-US" dirty="0"/>
              <a:t> </a:t>
            </a:r>
            <a:r>
              <a:rPr lang="en-US" dirty="0" err="1"/>
              <a:t>haotic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sunt </a:t>
            </a:r>
            <a:r>
              <a:rPr lang="en-US" dirty="0" err="1"/>
              <a:t>eficiente</a:t>
            </a:r>
            <a:r>
              <a:rPr lang="en-US" dirty="0"/>
              <a:t> din </a:t>
            </a:r>
            <a:r>
              <a:rPr lang="en-US" dirty="0" err="1"/>
              <a:t>punct</a:t>
            </a:r>
            <a:r>
              <a:rPr lang="en-US" dirty="0"/>
              <a:t> de </a:t>
            </a:r>
            <a:r>
              <a:rPr lang="en-US" dirty="0" err="1"/>
              <a:t>vedere</a:t>
            </a:r>
            <a:r>
              <a:rPr lang="en-US" dirty="0"/>
              <a:t> </a:t>
            </a:r>
            <a:r>
              <a:rPr lang="en-US" dirty="0" err="1"/>
              <a:t>computațional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Definițiile</a:t>
            </a:r>
            <a:r>
              <a:rPr lang="en-US" dirty="0"/>
              <a:t> </a:t>
            </a:r>
            <a:r>
              <a:rPr lang="en-US" dirty="0" err="1"/>
              <a:t>acestora</a:t>
            </a:r>
            <a:r>
              <a:rPr lang="en-US" dirty="0"/>
              <a:t> </a:t>
            </a:r>
            <a:r>
              <a:rPr lang="en-US" dirty="0" err="1"/>
              <a:t>presupun</a:t>
            </a:r>
            <a:r>
              <a:rPr lang="en-US" dirty="0"/>
              <a:t> o </a:t>
            </a:r>
            <a:r>
              <a:rPr lang="en-US" dirty="0" err="1"/>
              <a:t>implementare</a:t>
            </a:r>
            <a:r>
              <a:rPr lang="en-US" dirty="0"/>
              <a:t> cu </a:t>
            </a:r>
            <a:r>
              <a:rPr lang="en-US" dirty="0" err="1"/>
              <a:t>operații</a:t>
            </a:r>
            <a:r>
              <a:rPr lang="en-US" dirty="0"/>
              <a:t> </a:t>
            </a:r>
            <a:r>
              <a:rPr lang="en-US" dirty="0" err="1"/>
              <a:t>aritmetice</a:t>
            </a:r>
            <a:r>
              <a:rPr lang="en-US" dirty="0"/>
              <a:t> simple, </a:t>
            </a:r>
            <a:r>
              <a:rPr lang="en-US" dirty="0" err="1"/>
              <a:t>fiind</a:t>
            </a:r>
            <a:r>
              <a:rPr lang="en-US" dirty="0"/>
              <a:t> </a:t>
            </a:r>
            <a:r>
              <a:rPr lang="en-US" dirty="0" err="1"/>
              <a:t>utilizate</a:t>
            </a:r>
            <a:br>
              <a:rPr lang="en-US" dirty="0"/>
            </a:br>
            <a:r>
              <a:rPr lang="en-US" dirty="0" err="1"/>
              <a:t>tipuri</a:t>
            </a:r>
            <a:r>
              <a:rPr lang="en-US" dirty="0"/>
              <a:t> de date native.</a:t>
            </a:r>
          </a:p>
        </p:txBody>
      </p:sp>
    </p:spTree>
    <p:extLst>
      <p:ext uri="{BB962C8B-B14F-4D97-AF65-F5344CB8AC3E}">
        <p14:creationId xmlns:p14="http://schemas.microsoft.com/office/powerpoint/2010/main" val="692778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7B4472A-332B-71E5-8009-33841E7C3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906745-B35D-728E-3FD2-BFF612E68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74" y="1635260"/>
            <a:ext cx="3348297" cy="22417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100"/>
              <a:t>Runda compusa – convergența exponentului Lyapunov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24C607-7147-992F-CA0A-636C35549B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344099" y="838689"/>
            <a:ext cx="7390808" cy="517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544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AB9B8B4-6AA0-6EC2-5180-35BA3CFC2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D761EE-E165-2E74-07D2-AF9981F4B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48640"/>
            <a:ext cx="10872216" cy="1132258"/>
          </a:xfrm>
        </p:spPr>
        <p:txBody>
          <a:bodyPr anchor="t">
            <a:normAutofit/>
          </a:bodyPr>
          <a:lstStyle/>
          <a:p>
            <a:r>
              <a:rPr lang="en-US" dirty="0"/>
              <a:t>Runa </a:t>
            </a:r>
            <a:r>
              <a:rPr lang="en-US" dirty="0" err="1"/>
              <a:t>compusă</a:t>
            </a:r>
            <a:r>
              <a:rPr lang="en-US" dirty="0"/>
              <a:t> – </a:t>
            </a:r>
            <a:r>
              <a:rPr lang="en-US" dirty="0" err="1"/>
              <a:t>exponenții</a:t>
            </a:r>
            <a:r>
              <a:rPr lang="en-US" dirty="0"/>
              <a:t> Lyapunov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AC4621-6117-2685-FD37-072576DE1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7" y="1516696"/>
            <a:ext cx="4887154" cy="48871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57688C-96F0-E777-0BAE-BB53E0485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2448" y="1516696"/>
            <a:ext cx="4887154" cy="488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387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Funcția</a:t>
            </a:r>
            <a:r>
              <a:rPr dirty="0"/>
              <a:t> hash </a:t>
            </a:r>
            <a:r>
              <a:rPr dirty="0" err="1"/>
              <a:t>propusă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 dirty="0" err="1"/>
              <a:t>Combină</a:t>
            </a:r>
            <a:r>
              <a:rPr sz="1600" dirty="0"/>
              <a:t> </a:t>
            </a:r>
            <a:r>
              <a:rPr sz="1600" dirty="0" err="1"/>
              <a:t>construcția</a:t>
            </a:r>
            <a:r>
              <a:rPr sz="1600" dirty="0"/>
              <a:t> Sponge cu un arbore Merkle </a:t>
            </a:r>
            <a:r>
              <a:rPr sz="1600" dirty="0" err="1"/>
              <a:t>pentru</a:t>
            </a:r>
            <a:r>
              <a:rPr sz="1600" dirty="0"/>
              <a:t> </a:t>
            </a:r>
            <a:r>
              <a:rPr lang="en-US" sz="1600" dirty="0"/>
              <a:t>a </a:t>
            </a:r>
            <a:r>
              <a:rPr lang="en-US" sz="1600" dirty="0" err="1"/>
              <a:t>calcula</a:t>
            </a:r>
            <a:r>
              <a:rPr lang="en-US" sz="1600" dirty="0"/>
              <a:t> </a:t>
            </a:r>
            <a:r>
              <a:rPr sz="1600" dirty="0"/>
              <a:t>hash-ul </a:t>
            </a:r>
            <a:r>
              <a:rPr sz="1600" dirty="0" err="1"/>
              <a:t>întregului</a:t>
            </a:r>
            <a:r>
              <a:rPr sz="1600" dirty="0"/>
              <a:t> </a:t>
            </a:r>
            <a:r>
              <a:rPr sz="1600" dirty="0" err="1"/>
              <a:t>mesaj</a:t>
            </a:r>
            <a:r>
              <a:rPr sz="1600" dirty="0"/>
              <a:t>.</a:t>
            </a:r>
          </a:p>
          <a:p>
            <a:r>
              <a:rPr sz="1600" dirty="0"/>
              <a:t>Stare </a:t>
            </a:r>
            <a:r>
              <a:rPr sz="1600" dirty="0" err="1"/>
              <a:t>internă</a:t>
            </a:r>
            <a:r>
              <a:rPr sz="1600" dirty="0"/>
              <a:t> de 1024 </a:t>
            </a:r>
            <a:r>
              <a:rPr sz="1600" dirty="0" err="1"/>
              <a:t>biți</a:t>
            </a:r>
            <a:r>
              <a:rPr sz="1600" dirty="0"/>
              <a:t>: 512 </a:t>
            </a:r>
            <a:r>
              <a:rPr sz="1600" dirty="0" err="1"/>
              <a:t>biți</a:t>
            </a:r>
            <a:r>
              <a:rPr sz="1600" dirty="0"/>
              <a:t> </a:t>
            </a:r>
            <a:r>
              <a:rPr sz="1600" dirty="0" err="1"/>
              <a:t>rată</a:t>
            </a:r>
            <a:r>
              <a:rPr sz="1600" dirty="0"/>
              <a:t> + 512 </a:t>
            </a:r>
            <a:r>
              <a:rPr sz="1600" dirty="0" err="1"/>
              <a:t>biți</a:t>
            </a:r>
            <a:r>
              <a:rPr sz="1600" dirty="0"/>
              <a:t> capacitate.</a:t>
            </a:r>
            <a:r>
              <a:rPr lang="ro-RO" sz="1600" dirty="0"/>
              <a:t> </a:t>
            </a:r>
            <a:r>
              <a:rPr sz="1600" dirty="0" err="1"/>
              <a:t>Transformarea</a:t>
            </a:r>
            <a:r>
              <a:rPr sz="1600" dirty="0"/>
              <a:t> </a:t>
            </a:r>
            <a:r>
              <a:rPr sz="1600" dirty="0" err="1"/>
              <a:t>stării</a:t>
            </a:r>
            <a:r>
              <a:rPr sz="1600" dirty="0"/>
              <a:t> </a:t>
            </a:r>
            <a:r>
              <a:rPr sz="1600" dirty="0" err="1"/>
              <a:t>folosește</a:t>
            </a:r>
            <a:r>
              <a:rPr sz="1600" dirty="0"/>
              <a:t> o </a:t>
            </a:r>
            <a:r>
              <a:rPr sz="1600" dirty="0" err="1"/>
              <a:t>funcție</a:t>
            </a:r>
            <a:r>
              <a:rPr sz="1600" dirty="0"/>
              <a:t> </a:t>
            </a:r>
            <a:r>
              <a:rPr sz="1600" dirty="0" err="1"/>
              <a:t>haotică</a:t>
            </a:r>
            <a:r>
              <a:rPr sz="1600" dirty="0"/>
              <a:t> </a:t>
            </a:r>
            <a:r>
              <a:rPr lang="ro-RO" sz="1600" dirty="0"/>
              <a:t>dublată de metode clasice pentru a introduce confuzie și difuzie. </a:t>
            </a:r>
            <a:r>
              <a:rPr sz="1600" dirty="0" err="1"/>
              <a:t>Dimensiunea</a:t>
            </a:r>
            <a:r>
              <a:rPr sz="1600" dirty="0"/>
              <a:t> </a:t>
            </a:r>
            <a:r>
              <a:rPr sz="1600" dirty="0" err="1"/>
              <a:t>blocului</a:t>
            </a:r>
            <a:r>
              <a:rPr sz="1600" dirty="0"/>
              <a:t> </a:t>
            </a:r>
            <a:r>
              <a:rPr sz="1600" dirty="0" err="1"/>
              <a:t>și</a:t>
            </a:r>
            <a:r>
              <a:rPr sz="1600" dirty="0"/>
              <a:t> </a:t>
            </a:r>
            <a:r>
              <a:rPr sz="1600" dirty="0" err="1"/>
              <a:t>numărul</a:t>
            </a:r>
            <a:r>
              <a:rPr sz="1600" dirty="0"/>
              <a:t> de </a:t>
            </a:r>
            <a:r>
              <a:rPr sz="1600" dirty="0" err="1"/>
              <a:t>copii</a:t>
            </a:r>
            <a:r>
              <a:rPr sz="1600" dirty="0"/>
              <a:t> ai </a:t>
            </a:r>
            <a:r>
              <a:rPr sz="1600" dirty="0" err="1"/>
              <a:t>unui</a:t>
            </a:r>
            <a:r>
              <a:rPr sz="1600" dirty="0"/>
              <a:t> nod sunt </a:t>
            </a:r>
            <a:r>
              <a:rPr sz="1600" dirty="0" err="1"/>
              <a:t>parametri</a:t>
            </a:r>
            <a:r>
              <a:rPr sz="1600" dirty="0"/>
              <a:t> </a:t>
            </a:r>
            <a:r>
              <a:rPr sz="1600" dirty="0" err="1"/>
              <a:t>configurabili</a:t>
            </a:r>
            <a:r>
              <a:rPr sz="1600" dirty="0"/>
              <a:t>.</a:t>
            </a:r>
            <a:endParaRPr lang="ro-RO" sz="1600" dirty="0"/>
          </a:p>
          <a:p>
            <a:r>
              <a:rPr lang="en-US" sz="1600" dirty="0"/>
              <a:t>Prima </a:t>
            </a:r>
            <a:r>
              <a:rPr lang="en-US" sz="1600" dirty="0" err="1"/>
              <a:t>parte</a:t>
            </a:r>
            <a:r>
              <a:rPr lang="en-US" sz="1600" dirty="0"/>
              <a:t> a </a:t>
            </a:r>
            <a:r>
              <a:rPr lang="en-US" sz="1600" dirty="0" err="1"/>
              <a:t>funcției</a:t>
            </a:r>
            <a:r>
              <a:rPr lang="en-US" sz="1600" dirty="0"/>
              <a:t> </a:t>
            </a:r>
            <a:r>
              <a:rPr lang="en-US" sz="1600" dirty="0" err="1"/>
              <a:t>este</a:t>
            </a:r>
            <a:r>
              <a:rPr lang="en-US" sz="1600" dirty="0"/>
              <a:t> </a:t>
            </a:r>
            <a:r>
              <a:rPr lang="en-US" sz="1600" dirty="0" err="1"/>
              <a:t>preprocesarea</a:t>
            </a:r>
            <a:r>
              <a:rPr lang="en-US" sz="1600" dirty="0"/>
              <a:t>: </a:t>
            </a:r>
            <a:r>
              <a:rPr lang="en-US" sz="1600" dirty="0" err="1"/>
              <a:t>lungimea</a:t>
            </a:r>
            <a:r>
              <a:rPr lang="en-US" sz="1600" dirty="0"/>
              <a:t> </a:t>
            </a:r>
            <a:r>
              <a:rPr lang="en-US" sz="1600" dirty="0" err="1"/>
              <a:t>mesajului</a:t>
            </a:r>
            <a:r>
              <a:rPr lang="en-US" sz="1600" dirty="0"/>
              <a:t> </a:t>
            </a:r>
            <a:r>
              <a:rPr lang="en-US" sz="1600" dirty="0" err="1"/>
              <a:t>trebuie</a:t>
            </a:r>
            <a:r>
              <a:rPr lang="en-US" sz="1600" dirty="0"/>
              <a:t> </a:t>
            </a:r>
            <a:r>
              <a:rPr lang="en-US" sz="1600" dirty="0" err="1"/>
              <a:t>sa</a:t>
            </a:r>
            <a:r>
              <a:rPr lang="en-US" sz="1600" dirty="0"/>
              <a:t> fie un </a:t>
            </a:r>
            <a:r>
              <a:rPr lang="en-US" sz="1600" dirty="0" err="1"/>
              <a:t>multiplu</a:t>
            </a:r>
            <a:r>
              <a:rPr lang="en-US" sz="1600" dirty="0"/>
              <a:t> al </a:t>
            </a:r>
            <a:r>
              <a:rPr lang="en-US" sz="1600" dirty="0" err="1"/>
              <a:t>ratei</a:t>
            </a:r>
            <a:r>
              <a:rPr lang="en-US" sz="1600" dirty="0"/>
              <a:t> de 512 </a:t>
            </a:r>
            <a:r>
              <a:rPr lang="en-US" sz="1600" dirty="0" err="1"/>
              <a:t>biți</a:t>
            </a:r>
            <a:r>
              <a:rPr lang="en-US" sz="1600" dirty="0"/>
              <a:t>. </a:t>
            </a:r>
            <a:r>
              <a:rPr lang="en-US" sz="1600" dirty="0" err="1"/>
              <a:t>Astfel</a:t>
            </a:r>
            <a:r>
              <a:rPr lang="en-US" sz="1600" dirty="0"/>
              <a:t> </a:t>
            </a:r>
            <a:r>
              <a:rPr lang="en-US" sz="1600" dirty="0" err="1"/>
              <a:t>considerăm</a:t>
            </a:r>
            <a:r>
              <a:rPr lang="en-US" sz="1600" dirty="0"/>
              <a:t> </a:t>
            </a:r>
            <a:r>
              <a:rPr lang="en-US" sz="1600" dirty="0" err="1"/>
              <a:t>mesajul</a:t>
            </a:r>
            <a:r>
              <a:rPr lang="en-US" sz="1600" dirty="0"/>
              <a:t> padded ca </a:t>
            </a:r>
            <a:r>
              <a:rPr lang="en-US" sz="1600" dirty="0" err="1"/>
              <a:t>fiind</a:t>
            </a:r>
            <a:r>
              <a:rPr lang="en-US" sz="1600" dirty="0"/>
              <a:t>: M' = M ‖ 0x80 ‖ 0x00 … 0x00 ‖ 0x01</a:t>
            </a:r>
          </a:p>
          <a:p>
            <a:r>
              <a:rPr lang="en-US" sz="1600" dirty="0" err="1"/>
              <a:t>Fiecare</a:t>
            </a:r>
            <a:r>
              <a:rPr lang="en-US" sz="1600" dirty="0"/>
              <a:t> bloc de 512 </a:t>
            </a:r>
            <a:r>
              <a:rPr lang="en-US" sz="1600" dirty="0" err="1"/>
              <a:t>biți</a:t>
            </a:r>
            <a:r>
              <a:rPr lang="en-US" sz="1600" dirty="0"/>
              <a:t> </a:t>
            </a:r>
            <a:r>
              <a:rPr lang="en-US" sz="1600" dirty="0" err="1"/>
              <a:t>este</a:t>
            </a:r>
            <a:r>
              <a:rPr lang="en-US" sz="1600" dirty="0"/>
              <a:t> XOR-at cu rata, </a:t>
            </a:r>
            <a:r>
              <a:rPr lang="en-US" sz="1600" dirty="0" err="1"/>
              <a:t>apoi</a:t>
            </a:r>
            <a:r>
              <a:rPr lang="en-US" sz="1600" dirty="0"/>
              <a:t> se </a:t>
            </a:r>
            <a:r>
              <a:rPr lang="en-US" sz="1600" dirty="0" err="1"/>
              <a:t>aplică</a:t>
            </a:r>
            <a:r>
              <a:rPr lang="en-US" sz="1600" dirty="0"/>
              <a:t> </a:t>
            </a:r>
            <a:r>
              <a:rPr lang="en-US" sz="1600" dirty="0" err="1"/>
              <a:t>permutarea</a:t>
            </a:r>
            <a:r>
              <a:rPr lang="en-US" sz="1600" dirty="0"/>
              <a:t> f. </a:t>
            </a:r>
            <a:r>
              <a:rPr lang="en-US" sz="1600" dirty="0" err="1"/>
              <a:t>Starea</a:t>
            </a:r>
            <a:r>
              <a:rPr lang="en-US" sz="1600" dirty="0"/>
              <a:t> e </a:t>
            </a:r>
            <a:r>
              <a:rPr lang="en-US" sz="1600" dirty="0" err="1"/>
              <a:t>împărțită</a:t>
            </a:r>
            <a:r>
              <a:rPr lang="en-US" sz="1600" dirty="0"/>
              <a:t> </a:t>
            </a:r>
            <a:r>
              <a:rPr lang="en-US" sz="1600" dirty="0" err="1"/>
              <a:t>în</a:t>
            </a:r>
            <a:r>
              <a:rPr lang="en-US" sz="1600" dirty="0"/>
              <a:t> 16 </a:t>
            </a:r>
            <a:r>
              <a:rPr lang="en-US" sz="1600" dirty="0" err="1"/>
              <a:t>secțiuni</a:t>
            </a:r>
            <a:r>
              <a:rPr lang="en-US" sz="1600" dirty="0"/>
              <a:t> (</a:t>
            </a:r>
            <a:r>
              <a:rPr lang="en-US" sz="1600" dirty="0" err="1"/>
              <a:t>câte</a:t>
            </a:r>
            <a:r>
              <a:rPr lang="en-US" sz="1600" dirty="0"/>
              <a:t> un </a:t>
            </a:r>
            <a:r>
              <a:rPr lang="en-US" sz="1600" dirty="0" err="1"/>
              <a:t>cuvânt</a:t>
            </a:r>
            <a:r>
              <a:rPr lang="en-US" sz="1600" dirty="0"/>
              <a:t> din </a:t>
            </a:r>
            <a:r>
              <a:rPr lang="en-US" sz="1600" dirty="0" err="1"/>
              <a:t>rată</a:t>
            </a:r>
            <a:r>
              <a:rPr lang="en-US" sz="1600" dirty="0"/>
              <a:t> </a:t>
            </a:r>
            <a:r>
              <a:rPr lang="en-US" sz="1600" dirty="0" err="1"/>
              <a:t>și</a:t>
            </a:r>
            <a:r>
              <a:rPr lang="en-US" sz="1600" dirty="0"/>
              <a:t> </a:t>
            </a:r>
            <a:r>
              <a:rPr lang="en-US" sz="1600" dirty="0" err="1"/>
              <a:t>unul</a:t>
            </a:r>
            <a:r>
              <a:rPr lang="en-US" sz="1600" dirty="0"/>
              <a:t> din capacitate). Pe </a:t>
            </a:r>
            <a:r>
              <a:rPr lang="en-US" sz="1600" dirty="0" err="1"/>
              <a:t>fiecare</a:t>
            </a:r>
            <a:r>
              <a:rPr lang="en-US" sz="1600" dirty="0"/>
              <a:t> </a:t>
            </a:r>
            <a:r>
              <a:rPr lang="en-US" sz="1600" dirty="0" err="1"/>
              <a:t>secțiune</a:t>
            </a:r>
            <a:r>
              <a:rPr lang="en-US" sz="1600" dirty="0"/>
              <a:t> se </a:t>
            </a:r>
            <a:r>
              <a:rPr lang="en-US" sz="1600" dirty="0" err="1"/>
              <a:t>aplică</a:t>
            </a:r>
            <a:r>
              <a:rPr lang="en-US" sz="1600" dirty="0"/>
              <a:t> </a:t>
            </a:r>
            <a:r>
              <a:rPr lang="en-US" sz="1600" dirty="0" err="1"/>
              <a:t>secvențial</a:t>
            </a:r>
            <a:r>
              <a:rPr lang="en-US" sz="1600" dirty="0"/>
              <a:t> </a:t>
            </a:r>
            <a:r>
              <a:rPr lang="en-US" sz="1600" dirty="0" err="1"/>
              <a:t>cele</a:t>
            </a:r>
            <a:r>
              <a:rPr lang="en-US" sz="1600" dirty="0"/>
              <a:t> </a:t>
            </a:r>
            <a:r>
              <a:rPr lang="en-US" sz="1600" dirty="0" err="1"/>
              <a:t>două</a:t>
            </a:r>
            <a:r>
              <a:rPr lang="en-US" sz="1600" dirty="0"/>
              <a:t> </a:t>
            </a:r>
            <a:r>
              <a:rPr lang="en-US" sz="1600" dirty="0" err="1"/>
              <a:t>sisteme</a:t>
            </a:r>
            <a:r>
              <a:rPr lang="en-US" sz="1600" dirty="0"/>
              <a:t> </a:t>
            </a:r>
            <a:r>
              <a:rPr lang="en-US" sz="1600" dirty="0" err="1"/>
              <a:t>haotice</a:t>
            </a:r>
            <a:r>
              <a:rPr lang="en-US" sz="1600" dirty="0"/>
              <a:t> (</a:t>
            </a:r>
            <a:r>
              <a:rPr lang="en-US" sz="1600" dirty="0" err="1"/>
              <a:t>runda</a:t>
            </a:r>
            <a:r>
              <a:rPr lang="en-US" sz="1600" dirty="0"/>
              <a:t> </a:t>
            </a:r>
            <a:r>
              <a:rPr lang="en-US" sz="1600" dirty="0" err="1"/>
              <a:t>compusă</a:t>
            </a:r>
            <a:r>
              <a:rPr lang="en-US" sz="1600" dirty="0"/>
              <a:t>) de 20 de </a:t>
            </a:r>
            <a:r>
              <a:rPr lang="en-US" sz="1600" dirty="0" err="1"/>
              <a:t>ori</a:t>
            </a:r>
            <a:r>
              <a:rPr lang="en-US" sz="1600" dirty="0"/>
              <a:t>. </a:t>
            </a:r>
            <a:r>
              <a:rPr lang="en-US" sz="1600" dirty="0" err="1"/>
              <a:t>Urmează</a:t>
            </a:r>
            <a:r>
              <a:rPr lang="en-US" sz="1600" dirty="0"/>
              <a:t> </a:t>
            </a:r>
            <a:r>
              <a:rPr lang="en-US" sz="1600" dirty="0" err="1"/>
              <a:t>difuzia</a:t>
            </a:r>
            <a:r>
              <a:rPr lang="en-US" sz="1600" dirty="0"/>
              <a:t>: </a:t>
            </a:r>
            <a:r>
              <a:rPr lang="en-US" sz="1600" dirty="0" err="1"/>
              <a:t>amestecarea</a:t>
            </a:r>
            <a:r>
              <a:rPr lang="en-US" sz="1600" dirty="0"/>
              <a:t> </a:t>
            </a:r>
            <a:r>
              <a:rPr lang="en-US" sz="1600" dirty="0" err="1"/>
              <a:t>cuvintelor</a:t>
            </a:r>
            <a:r>
              <a:rPr lang="en-US" sz="1600" dirty="0"/>
              <a:t> </a:t>
            </a:r>
            <a:r>
              <a:rPr lang="en-US" sz="1600" dirty="0" err="1"/>
              <a:t>vecine</a:t>
            </a:r>
            <a:r>
              <a:rPr lang="en-US" sz="1600" dirty="0"/>
              <a:t>, </a:t>
            </a:r>
            <a:r>
              <a:rPr lang="en-US" sz="1600" dirty="0" err="1"/>
              <a:t>apoi</a:t>
            </a:r>
            <a:r>
              <a:rPr lang="en-US" sz="1600" dirty="0"/>
              <a:t> a </a:t>
            </a:r>
            <a:r>
              <a:rPr lang="en-US" sz="1600" dirty="0" err="1"/>
              <a:t>celor</a:t>
            </a:r>
            <a:r>
              <a:rPr lang="en-US" sz="1600" dirty="0"/>
              <a:t> </a:t>
            </a:r>
            <a:r>
              <a:rPr lang="en-US" sz="1600" dirty="0" err="1"/>
              <a:t>două</a:t>
            </a:r>
            <a:r>
              <a:rPr lang="en-US" sz="1600" dirty="0"/>
              <a:t> </a:t>
            </a:r>
            <a:r>
              <a:rPr lang="en-US" sz="1600" dirty="0" err="1"/>
              <a:t>jumătăți</a:t>
            </a:r>
            <a:r>
              <a:rPr lang="en-US" sz="1600" dirty="0"/>
              <a:t>.</a:t>
            </a:r>
          </a:p>
          <a:p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F3E6F82-836B-858F-ADED-19E9A71A0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9740" y="454924"/>
            <a:ext cx="8732520" cy="9052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700" dirty="0" err="1"/>
              <a:t>Algoritmul</a:t>
            </a:r>
            <a:r>
              <a:rPr lang="en-US" sz="3700" dirty="0"/>
              <a:t> </a:t>
            </a:r>
            <a:r>
              <a:rPr lang="en-US" sz="3700" dirty="0" err="1"/>
              <a:t>pentru</a:t>
            </a:r>
            <a:r>
              <a:rPr lang="en-US" sz="3700" dirty="0"/>
              <a:t> </a:t>
            </a:r>
            <a:r>
              <a:rPr lang="en-US" sz="3700" dirty="0" err="1"/>
              <a:t>permutarea</a:t>
            </a:r>
            <a:r>
              <a:rPr lang="en-US" sz="3700" dirty="0"/>
              <a:t> </a:t>
            </a:r>
            <a:r>
              <a:rPr lang="en-US" sz="3700" dirty="0" err="1"/>
              <a:t>stării</a:t>
            </a:r>
            <a:endParaRPr lang="en-US" sz="37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5ABD73D-5ABE-788F-5502-DFF699443F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297"/>
          <a:stretch>
            <a:fillRect/>
          </a:stretch>
        </p:blipFill>
        <p:spPr>
          <a:xfrm>
            <a:off x="417613" y="1647156"/>
            <a:ext cx="5349590" cy="43021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B209ED9-BB57-47BC-819E-FED8A2945C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485"/>
          <a:stretch>
            <a:fillRect/>
          </a:stretch>
        </p:blipFill>
        <p:spPr>
          <a:xfrm>
            <a:off x="5767203" y="1647156"/>
            <a:ext cx="6222825" cy="267687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14923"/>
            <a:ext cx="4621553" cy="1360728"/>
          </a:xfrm>
        </p:spPr>
        <p:txBody>
          <a:bodyPr anchor="b">
            <a:normAutofit/>
          </a:bodyPr>
          <a:lstStyle/>
          <a:p>
            <a:r>
              <a:rPr dirty="0" err="1"/>
              <a:t>Arborele</a:t>
            </a:r>
            <a:r>
              <a:rPr dirty="0"/>
              <a:t> Merkle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12648" y="2584058"/>
                <a:ext cx="4621553" cy="3159018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sz="1700" dirty="0" err="1"/>
                  <a:t>Frunzele</a:t>
                </a:r>
                <a:r>
                  <a:rPr lang="en-US" sz="1700" dirty="0"/>
                  <a:t> absorb </a:t>
                </a:r>
                <a:r>
                  <a:rPr lang="en-US" sz="1700" dirty="0" err="1"/>
                  <a:t>blocurile</a:t>
                </a:r>
                <a:r>
                  <a:rPr lang="en-US" sz="17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7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ar-AE" sz="17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sz="1700" dirty="0"/>
                  <a:t> </a:t>
                </a:r>
                <a:r>
                  <a:rPr lang="en-US" sz="1700" dirty="0"/>
                  <a:t>ale </a:t>
                </a:r>
                <a:r>
                  <a:rPr lang="en-US" sz="1700" dirty="0" err="1"/>
                  <a:t>mesajului</a:t>
                </a:r>
                <a:r>
                  <a:rPr lang="en-US" sz="1700" dirty="0"/>
                  <a:t> </a:t>
                </a:r>
                <a:r>
                  <a:rPr lang="en-US" sz="1700" dirty="0" err="1"/>
                  <a:t>preprocesat</a:t>
                </a:r>
                <a:r>
                  <a:rPr lang="en-US" sz="1700" dirty="0"/>
                  <a:t>. </a:t>
                </a:r>
                <a:r>
                  <a:rPr lang="en-US" sz="1700" dirty="0" err="1"/>
                  <a:t>Nodurile</a:t>
                </a:r>
                <a:r>
                  <a:rPr lang="en-US" sz="1700" dirty="0"/>
                  <a:t> interne absorb </a:t>
                </a:r>
                <a:r>
                  <a:rPr lang="en-US" sz="1700" dirty="0" err="1"/>
                  <a:t>concatenarea</a:t>
                </a:r>
                <a:r>
                  <a:rPr lang="en-US" sz="1700" dirty="0"/>
                  <a:t> </a:t>
                </a:r>
                <a:r>
                  <a:rPr lang="en-US" sz="1700" dirty="0" err="1"/>
                  <a:t>ratelor</a:t>
                </a:r>
                <a:r>
                  <a:rPr lang="en-US" sz="1700" dirty="0"/>
                  <a:t> </a:t>
                </a:r>
                <a:r>
                  <a:rPr lang="en-US" sz="1700" dirty="0" err="1"/>
                  <a:t>copiilor</a:t>
                </a:r>
                <a:r>
                  <a:rPr lang="en-US" sz="1700" dirty="0"/>
                  <a:t>. Hash-ul </a:t>
                </a:r>
                <a:r>
                  <a:rPr lang="en-US" sz="1700" dirty="0" err="1"/>
                  <a:t>este</a:t>
                </a:r>
                <a:r>
                  <a:rPr lang="en-US" sz="1700" dirty="0"/>
                  <a:t> extras din </a:t>
                </a:r>
                <a:r>
                  <a:rPr lang="en-US" sz="1700" dirty="0" err="1"/>
                  <a:t>rată</a:t>
                </a:r>
                <a:r>
                  <a:rPr lang="en-US" sz="1700" dirty="0"/>
                  <a:t>, </a:t>
                </a:r>
                <a:r>
                  <a:rPr lang="en-US" sz="1700" dirty="0" err="1"/>
                  <a:t>iar</a:t>
                </a:r>
                <a:r>
                  <a:rPr lang="en-US" sz="1700" dirty="0"/>
                  <a:t> </a:t>
                </a:r>
                <a:r>
                  <a:rPr lang="en-US" sz="1700" dirty="0" err="1"/>
                  <a:t>biții</a:t>
                </a:r>
                <a:r>
                  <a:rPr lang="en-US" sz="1700" dirty="0"/>
                  <a:t> </a:t>
                </a:r>
                <a:r>
                  <a:rPr lang="en-US" sz="1700" dirty="0" err="1"/>
                  <a:t>în</a:t>
                </a:r>
                <a:r>
                  <a:rPr lang="en-US" sz="1700" dirty="0"/>
                  <a:t> plus </a:t>
                </a:r>
                <a:r>
                  <a:rPr lang="en-US" sz="1700" dirty="0" err="1"/>
                  <a:t>față</a:t>
                </a:r>
                <a:r>
                  <a:rPr lang="en-US" sz="1700" dirty="0"/>
                  <a:t> de </a:t>
                </a:r>
                <a:r>
                  <a:rPr lang="en-US" sz="1700" dirty="0" err="1"/>
                  <a:t>lungimea</a:t>
                </a:r>
                <a:r>
                  <a:rPr lang="en-US" sz="1700" dirty="0"/>
                  <a:t> hash-</a:t>
                </a:r>
                <a:r>
                  <a:rPr lang="en-US" sz="1700" dirty="0" err="1"/>
                  <a:t>ului</a:t>
                </a:r>
                <a:r>
                  <a:rPr lang="en-US" sz="1700" dirty="0"/>
                  <a:t> sunt </a:t>
                </a:r>
                <a:r>
                  <a:rPr lang="en-US" sz="1700" dirty="0" err="1"/>
                  <a:t>trunchiați</a:t>
                </a:r>
                <a:r>
                  <a:rPr lang="en-US" sz="1700" dirty="0"/>
                  <a:t>.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sz="1700" dirty="0" err="1"/>
                  <a:t>Înainte</a:t>
                </a:r>
                <a:r>
                  <a:rPr lang="en-US" sz="1700" dirty="0"/>
                  <a:t> de </a:t>
                </a:r>
                <a:r>
                  <a:rPr lang="en-US" sz="1700" dirty="0" err="1"/>
                  <a:t>stoarcere</a:t>
                </a:r>
                <a:r>
                  <a:rPr lang="en-US" sz="1700" dirty="0"/>
                  <a:t> se </a:t>
                </a:r>
                <a:r>
                  <a:rPr lang="en-US" sz="1700" dirty="0" err="1"/>
                  <a:t>aplică</a:t>
                </a:r>
                <a:r>
                  <a:rPr lang="en-US" sz="1700" dirty="0"/>
                  <a:t> </a:t>
                </a:r>
                <a:r>
                  <a:rPr lang="en-US" sz="1700" dirty="0" err="1"/>
                  <a:t>runde</a:t>
                </a:r>
                <a:r>
                  <a:rPr lang="en-US" sz="1700" dirty="0"/>
                  <a:t> </a:t>
                </a:r>
                <a:r>
                  <a:rPr lang="en-US" sz="1700" dirty="0" err="1"/>
                  <a:t>intermediare</a:t>
                </a:r>
                <a:r>
                  <a:rPr lang="en-US" sz="1700" dirty="0"/>
                  <a:t>: </a:t>
                </a:r>
                <a14:m>
                  <m:oMath xmlns:m="http://schemas.openxmlformats.org/officeDocument/2006/math">
                    <m:r>
                      <a:rPr lang="en-US" sz="17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700" i="0">
                        <a:latin typeface="Cambria Math" panose="02040503050406030204" pitchFamily="18" charset="0"/>
                      </a:rPr>
                      <m:t>=9+</m:t>
                    </m:r>
                    <m:d>
                      <m:dPr>
                        <m:ctrlPr>
                          <a:rPr lang="ar-AE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ar-AE" sz="1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7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d>
                        <m:r>
                          <a:rPr lang="ar-AE" sz="1700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sz="1700" i="1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ar-AE" sz="1700" b="0" i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sz="1700" i="0">
                            <a:latin typeface="Cambria Math" panose="02040503050406030204" pitchFamily="18" charset="0"/>
                          </a:rPr>
                          <m:t>37+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ar-AE" sz="17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7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  <m:r>
                          <a:rPr lang="ar-AE" sz="1700" b="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sz="1700" i="1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ar-AE" sz="1700" b="0" i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ar-AE" sz="1700" i="0">
                            <a:latin typeface="Cambria Math" panose="02040503050406030204" pitchFamily="18" charset="0"/>
                          </a:rPr>
                          <m:t>31</m:t>
                        </m:r>
                      </m:e>
                    </m:d>
                    <m:r>
                      <a:rPr lang="ar-AE" sz="17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1700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ar-AE" sz="17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1700" i="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ar-AE" sz="17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2648" y="2584058"/>
                <a:ext cx="4621553" cy="3159018"/>
              </a:xfrm>
              <a:blipFill>
                <a:blip r:embed="rId2"/>
                <a:stretch>
                  <a:fillRect l="-822" t="-800" r="-2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0CBD163F-D465-A5F7-6B52-E1ED927A1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1261" y="1435611"/>
            <a:ext cx="5837780" cy="39867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1818" y="546418"/>
            <a:ext cx="8728364" cy="689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 err="1"/>
              <a:t>Sensibilitatea</a:t>
            </a:r>
            <a:r>
              <a:rPr lang="en-US" dirty="0"/>
              <a:t> la </a:t>
            </a:r>
            <a:r>
              <a:rPr lang="en-US" dirty="0" err="1"/>
              <a:t>mesaj</a:t>
            </a:r>
            <a:endParaRPr lang="en-US" dirty="0"/>
          </a:p>
        </p:txBody>
      </p:sp>
      <p:pic>
        <p:nvPicPr>
          <p:cNvPr id="4" name="Picture 3" descr="test-sensitivity.png"/>
          <p:cNvPicPr>
            <a:picLocks noChangeAspect="1"/>
          </p:cNvPicPr>
          <p:nvPr/>
        </p:nvPicPr>
        <p:blipFill>
          <a:blip r:embed="rId2"/>
          <a:srcRect b="50000"/>
          <a:stretch>
            <a:fillRect/>
          </a:stretch>
        </p:blipFill>
        <p:spPr>
          <a:xfrm>
            <a:off x="2289809" y="1739582"/>
            <a:ext cx="761238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88994-989D-7269-1AF8-2F5C195CE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A89B588B-1C70-5C57-1E88-73E54DDE1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75262DE-5125-7174-98AE-8E63A8CEDE5B}"/>
              </a:ext>
            </a:extLst>
          </p:cNvPr>
          <p:cNvSpPr txBox="1">
            <a:spLocks/>
          </p:cNvSpPr>
          <p:nvPr/>
        </p:nvSpPr>
        <p:spPr>
          <a:xfrm>
            <a:off x="1731818" y="546418"/>
            <a:ext cx="8728364" cy="6892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Sensibilitatea la mesaj</a:t>
            </a:r>
            <a:endParaRPr lang="en-US" dirty="0"/>
          </a:p>
        </p:txBody>
      </p:sp>
      <p:pic>
        <p:nvPicPr>
          <p:cNvPr id="7" name="Content Placeholder 3" descr="test-sensitivity.png">
            <a:extLst>
              <a:ext uri="{FF2B5EF4-FFF2-40B4-BE49-F238E27FC236}">
                <a16:creationId xmlns:a16="http://schemas.microsoft.com/office/drawing/2014/main" id="{036F9407-7191-847B-09B7-72C8407F3C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9628"/>
          <a:stretch>
            <a:fillRect/>
          </a:stretch>
        </p:blipFill>
        <p:spPr>
          <a:xfrm>
            <a:off x="2140504" y="1782115"/>
            <a:ext cx="7597866" cy="459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208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Confuzie și difuzie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666BB-8C69-C250-4438-F5CA6FD095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12648" y="1417120"/>
                <a:ext cx="5169588" cy="4593828"/>
              </a:xfrm>
            </p:spPr>
            <p:txBody>
              <a:bodyPr>
                <a:normAutofit/>
              </a:bodyPr>
              <a:lstStyle/>
              <a:p>
                <a:r>
                  <a:rPr lang="en-US" sz="1600" dirty="0" err="1"/>
                  <a:t>Confuzia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și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difuzia</a:t>
                </a:r>
                <a:r>
                  <a:rPr lang="en-US" sz="1600" dirty="0"/>
                  <a:t> sunt </a:t>
                </a:r>
                <a:r>
                  <a:rPr lang="en-US" sz="1600" dirty="0" err="1"/>
                  <a:t>două</a:t>
                </a:r>
                <a:r>
                  <a:rPr lang="en-US" sz="1600" dirty="0"/>
                  <a:t> principii </a:t>
                </a:r>
                <a:r>
                  <a:rPr lang="en-US" sz="1600" dirty="0" err="1"/>
                  <a:t>fundamentale</a:t>
                </a:r>
                <a:r>
                  <a:rPr lang="en-US" sz="1600" dirty="0"/>
                  <a:t> de </a:t>
                </a:r>
                <a:r>
                  <a:rPr lang="en-US" sz="1600" dirty="0" err="1"/>
                  <a:t>proiectare</a:t>
                </a:r>
                <a:r>
                  <a:rPr lang="en-US" sz="1600" dirty="0"/>
                  <a:t> a </a:t>
                </a:r>
                <a:r>
                  <a:rPr lang="en-US" sz="1600" dirty="0" err="1"/>
                  <a:t>funcțiilor</a:t>
                </a:r>
                <a:r>
                  <a:rPr lang="en-US" sz="1600" dirty="0"/>
                  <a:t> </a:t>
                </a:r>
                <a:r>
                  <a:rPr lang="en-US" sz="1600" dirty="0" err="1"/>
                  <a:t>criptografice</a:t>
                </a:r>
                <a:r>
                  <a:rPr lang="en-US" sz="1600" dirty="0"/>
                  <a:t>, </a:t>
                </a:r>
                <a:r>
                  <a:rPr lang="en-US" sz="1600" dirty="0" err="1"/>
                  <a:t>introduse</a:t>
                </a:r>
                <a:r>
                  <a:rPr lang="en-US" sz="1600" dirty="0"/>
                  <a:t> de Shannon.</a:t>
                </a:r>
              </a:p>
              <a:p>
                <a:r>
                  <a:rPr lang="en-US" sz="1600" dirty="0" err="1"/>
                  <a:t>Modalitatea</a:t>
                </a:r>
                <a:r>
                  <a:rPr lang="en-US" sz="1600" dirty="0"/>
                  <a:t> de </a:t>
                </a:r>
                <a:r>
                  <a:rPr lang="en-US" sz="1600" dirty="0" err="1"/>
                  <a:t>testare</a:t>
                </a:r>
                <a:r>
                  <a:rPr lang="en-US" sz="1600" dirty="0"/>
                  <a:t> a </a:t>
                </a:r>
                <a:r>
                  <a:rPr lang="en-US" sz="1600" dirty="0" err="1"/>
                  <a:t>confuziei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și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difuziei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este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următoarea</a:t>
                </a:r>
                <a:r>
                  <a:rPr lang="en-US" sz="1600" dirty="0"/>
                  <a:t>: se </a:t>
                </a:r>
                <a:r>
                  <a:rPr lang="en-US" sz="1600" dirty="0" err="1"/>
                  <a:t>generează</a:t>
                </a:r>
                <a:r>
                  <a:rPr lang="en-US" sz="1600" dirty="0"/>
                  <a:t> un set de N </a:t>
                </a:r>
                <a:r>
                  <a:rPr lang="en-US" sz="1600" dirty="0" err="1"/>
                  <a:t>mesaje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aleatorii</a:t>
                </a:r>
                <a:r>
                  <a:rPr lang="en-US" sz="1600" dirty="0"/>
                  <a:t>, de </a:t>
                </a:r>
                <a:r>
                  <a:rPr lang="en-US" sz="1600" dirty="0" err="1"/>
                  <a:t>lungime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aleatoare</a:t>
                </a:r>
                <a:r>
                  <a:rPr lang="en-US" sz="1600" dirty="0"/>
                  <a:t>. </a:t>
                </a:r>
                <a:r>
                  <a:rPr lang="en-US" sz="1600" dirty="0" err="1"/>
                  <a:t>Pentru</a:t>
                </a:r>
                <a:r>
                  <a:rPr lang="en-US" sz="1600" dirty="0"/>
                  <a:t> </a:t>
                </a:r>
                <a:r>
                  <a:rPr lang="en-US" sz="1600" dirty="0" err="1"/>
                  <a:t>fiecare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mesaj</a:t>
                </a:r>
                <a:r>
                  <a:rPr lang="en-US" sz="1600" dirty="0"/>
                  <a:t> se </a:t>
                </a:r>
                <a:r>
                  <a:rPr lang="en-US" sz="1600" dirty="0" err="1"/>
                  <a:t>calculează</a:t>
                </a:r>
                <a:r>
                  <a:rPr lang="en-US" sz="1600" dirty="0"/>
                  <a:t> hash-ul, se </a:t>
                </a:r>
                <a:r>
                  <a:rPr lang="en-US" sz="1600" dirty="0" err="1"/>
                  <a:t>schimbă</a:t>
                </a:r>
                <a:r>
                  <a:rPr lang="en-US" sz="1600" dirty="0"/>
                  <a:t> un bit ales </a:t>
                </a:r>
                <a:r>
                  <a:rPr lang="en-US" sz="1600" dirty="0" err="1"/>
                  <a:t>arbitrar</a:t>
                </a:r>
                <a:r>
                  <a:rPr lang="en-US" sz="1600" dirty="0"/>
                  <a:t> din </a:t>
                </a:r>
                <a:r>
                  <a:rPr lang="en-US" sz="1600" dirty="0" err="1"/>
                  <a:t>mesajul</a:t>
                </a:r>
                <a:r>
                  <a:rPr lang="en-US" sz="1600" dirty="0"/>
                  <a:t> </a:t>
                </a:r>
                <a:r>
                  <a:rPr lang="en-US" sz="1600" dirty="0" err="1"/>
                  <a:t>inițial</a:t>
                </a:r>
                <a:r>
                  <a:rPr lang="en-US" sz="1600" dirty="0"/>
                  <a:t> </a:t>
                </a:r>
                <a:r>
                  <a:rPr lang="en-US" sz="1600" dirty="0" err="1"/>
                  <a:t>și</a:t>
                </a:r>
                <a:r>
                  <a:rPr lang="en-US" sz="1600" dirty="0"/>
                  <a:t> se </a:t>
                </a:r>
                <a:r>
                  <a:rPr lang="en-US" sz="1600" dirty="0" err="1"/>
                  <a:t>calculează</a:t>
                </a:r>
                <a:r>
                  <a:rPr lang="en-US" sz="1600" dirty="0"/>
                  <a:t> hash-ul </a:t>
                </a:r>
                <a:r>
                  <a:rPr lang="en-US" sz="1600" dirty="0" err="1"/>
                  <a:t>pentru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mesajul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modificat</a:t>
                </a:r>
                <a:r>
                  <a:rPr lang="en-US" sz="1600" dirty="0"/>
                  <a:t>. Se </a:t>
                </a:r>
                <a:r>
                  <a:rPr lang="en-US" sz="1600" dirty="0" err="1"/>
                  <a:t>calculează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distanța</a:t>
                </a:r>
                <a:r>
                  <a:rPr lang="en-US" sz="1600" dirty="0"/>
                  <a:t> Hamming </a:t>
                </a:r>
                <a:r>
                  <a:rPr lang="en-US" sz="1600" dirty="0" err="1"/>
                  <a:t>dintre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cele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două</a:t>
                </a:r>
                <a:r>
                  <a:rPr lang="en-US" sz="1600" dirty="0"/>
                  <a:t> hash-</a:t>
                </a:r>
                <a:r>
                  <a:rPr lang="en-US" sz="1600" dirty="0" err="1"/>
                  <a:t>uri</a:t>
                </a:r>
                <a:r>
                  <a:rPr lang="en-US" sz="1600" dirty="0"/>
                  <a:t> </a:t>
                </a:r>
                <a:r>
                  <a:rPr lang="en-US" sz="1600" dirty="0" err="1"/>
                  <a:t>și</a:t>
                </a:r>
                <a:r>
                  <a:rPr lang="en-US" sz="1600" dirty="0"/>
                  <a:t> se </a:t>
                </a:r>
                <a:r>
                  <a:rPr lang="en-US" sz="1600" dirty="0" err="1"/>
                  <a:t>notează</a:t>
                </a:r>
                <a:r>
                  <a:rPr lang="en-US" sz="1600" dirty="0"/>
                  <a:t> </a:t>
                </a:r>
                <a:r>
                  <a:rPr lang="en-US" sz="1600" dirty="0" err="1"/>
                  <a:t>această</a:t>
                </a:r>
                <a:r>
                  <a:rPr lang="en-US" sz="1600" dirty="0"/>
                  <a:t> </a:t>
                </a:r>
                <a:r>
                  <a:rPr lang="en-US" sz="1600" dirty="0" err="1"/>
                  <a:t>valoare</a:t>
                </a:r>
                <a:r>
                  <a:rPr lang="en-US" sz="1600" dirty="0"/>
                  <a:t> cu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 err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600" i="1" dirty="0" err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i="0" dirty="0" err="1" smtClean="0">
                        <a:latin typeface="Cambria Math" panose="02040503050406030204" pitchFamily="18" charset="0"/>
                      </a:rPr>
                      <m:t>,∀</m:t>
                    </m:r>
                    <m:r>
                      <a:rPr lang="en-US" sz="16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600" i="0" dirty="0" err="1" smtClean="0">
                        <a:latin typeface="Cambria Math" panose="02040503050406030204" pitchFamily="18" charset="0"/>
                      </a:rPr>
                      <m:t>∈</m:t>
                    </m:r>
                    <m:bar>
                      <m:barPr>
                        <m:pos m:val="top"/>
                        <m:ctrlPr>
                          <a:rPr lang="en-US" sz="1600" i="1" dirty="0" err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600" i="0" dirty="0" err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1600" i="1" dirty="0" err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bar>
                  </m:oMath>
                </a14:m>
                <a:r>
                  <a:rPr lang="en-US" sz="1600" dirty="0"/>
                  <a:t>.</a:t>
                </a:r>
              </a:p>
              <a:p>
                <a:r>
                  <a:rPr lang="en-US" sz="1600" dirty="0" err="1"/>
                  <a:t>Pornind</a:t>
                </a:r>
                <a:r>
                  <a:rPr lang="en-US" sz="1600" dirty="0"/>
                  <a:t> de la </a:t>
                </a:r>
                <a:r>
                  <a:rPr lang="en-US" sz="1600" dirty="0" err="1"/>
                  <a:t>valorile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lui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ro-RO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putem</a:t>
                </a:r>
                <a:r>
                  <a:rPr lang="en-US" sz="1600" dirty="0"/>
                  <a:t> </a:t>
                </a:r>
                <a:r>
                  <a:rPr lang="en-US" sz="1600" dirty="0" err="1"/>
                  <a:t>calcula</a:t>
                </a:r>
                <a:r>
                  <a:rPr lang="en-US" sz="1600" dirty="0"/>
                  <a:t> o </a:t>
                </a:r>
                <a:r>
                  <a:rPr lang="en-US" sz="1600" dirty="0" err="1"/>
                  <a:t>serie</a:t>
                </a:r>
                <a:r>
                  <a:rPr lang="en-US" sz="1600" dirty="0"/>
                  <a:t> de </a:t>
                </a:r>
                <a:r>
                  <a:rPr lang="en-US" sz="1600" dirty="0" err="1"/>
                  <a:t>statistici</a:t>
                </a:r>
                <a:r>
                  <a:rPr lang="en-US" sz="1600" dirty="0"/>
                  <a:t> utile.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A666BB-8C69-C250-4438-F5CA6FD095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2648" y="1417120"/>
                <a:ext cx="5169588" cy="4593828"/>
              </a:xfrm>
              <a:blipFill>
                <a:blip r:embed="rId2"/>
                <a:stretch>
                  <a:fillRect l="-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939436" y="1417120"/>
                <a:ext cx="6122575" cy="49139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spcAft>
                    <a:spcPts val="1000"/>
                  </a:spcAft>
                  <a:buFont typeface="+mj-lt"/>
                  <a:buAutoNum type="arabicPeriod"/>
                </a:pPr>
                <a:r>
                  <a:rPr lang="en-US" sz="1600" dirty="0">
                    <a:solidFill>
                      <a:srgbClr val="1F2D3D"/>
                    </a:solidFill>
                  </a:rPr>
                  <a:t>Numărul </a:t>
                </a:r>
                <a:r>
                  <a:rPr lang="en-US" sz="1600" dirty="0" err="1">
                    <a:solidFill>
                      <a:srgbClr val="1F2D3D"/>
                    </a:solidFill>
                  </a:rPr>
                  <a:t>mediu</a:t>
                </a:r>
                <a:r>
                  <a:rPr lang="en-US" sz="1600" dirty="0">
                    <a:solidFill>
                      <a:srgbClr val="1F2D3D"/>
                    </a:solidFill>
                  </a:rPr>
                  <a:t> de </a:t>
                </a:r>
                <a:r>
                  <a:rPr lang="en-US" sz="1600" dirty="0" err="1">
                    <a:solidFill>
                      <a:srgbClr val="1F2D3D"/>
                    </a:solidFill>
                  </a:rPr>
                  <a:t>biți</a:t>
                </a:r>
                <a:r>
                  <a:rPr lang="en-US" sz="1600" dirty="0">
                    <a:solidFill>
                      <a:srgbClr val="1F2D3D"/>
                    </a:solidFill>
                  </a:rPr>
                  <a:t> </a:t>
                </a:r>
                <a:r>
                  <a:rPr lang="en-US" sz="1600" dirty="0" err="1">
                    <a:solidFill>
                      <a:srgbClr val="1F2D3D"/>
                    </a:solidFill>
                  </a:rPr>
                  <a:t>modificați</a:t>
                </a:r>
                <a:r>
                  <a:rPr lang="en-US" sz="1600" dirty="0">
                    <a:solidFill>
                      <a:srgbClr val="1F2D3D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𝑚𝑒𝑑</m:t>
                        </m:r>
                      </m:sub>
                    </m:sSub>
                    <m:r>
                      <a:rPr lang="en-US" sz="1600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0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ro-RO" sz="1600" dirty="0">
                  <a:solidFill>
                    <a:srgbClr val="1F2D3D"/>
                  </a:solidFill>
                </a:endParaRPr>
              </a:p>
              <a:p>
                <a:pPr marL="342900" indent="-342900">
                  <a:spcAft>
                    <a:spcPts val="1000"/>
                  </a:spcAft>
                  <a:buFont typeface="+mj-lt"/>
                  <a:buAutoNum type="arabicPeriod"/>
                </a:pPr>
                <a:r>
                  <a:rPr lang="ro-RO" sz="1600" dirty="0">
                    <a:solidFill>
                      <a:srgbClr val="1F2D3D"/>
                    </a:solidFill>
                  </a:rPr>
                  <a:t>Numărul minim de biți modificați: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i="0" dirty="0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a:rPr lang="en-US" sz="1600" i="0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i="0" dirty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 i="0" dirty="0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00" i="0" dirty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bar>
                              <m:barPr>
                                <m:pos m:val="top"/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sz="1600" i="0" dirty="0"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bar>
                          </m:e>
                        </m:d>
                      </m:e>
                    </m:func>
                  </m:oMath>
                </a14:m>
                <a:endParaRPr lang="ro-RO" sz="1600" dirty="0">
                  <a:solidFill>
                    <a:srgbClr val="1F2D3D"/>
                  </a:solidFill>
                </a:endParaRPr>
              </a:p>
              <a:p>
                <a:pPr marL="342900" indent="-342900">
                  <a:spcAft>
                    <a:spcPts val="1000"/>
                  </a:spcAft>
                  <a:buFont typeface="+mj-lt"/>
                  <a:buAutoNum type="arabicPeriod"/>
                </a:pPr>
                <a:r>
                  <a:rPr lang="en-US" sz="1600" dirty="0" err="1">
                    <a:solidFill>
                      <a:srgbClr val="1F2D3D"/>
                    </a:solidFill>
                  </a:rPr>
                  <a:t>Numărul</a:t>
                </a:r>
                <a:r>
                  <a:rPr lang="en-US" sz="1600" dirty="0">
                    <a:solidFill>
                      <a:srgbClr val="1F2D3D"/>
                    </a:solidFill>
                  </a:rPr>
                  <a:t> maxim de </a:t>
                </a:r>
                <a:r>
                  <a:rPr lang="en-US" sz="1600" dirty="0" err="1">
                    <a:solidFill>
                      <a:srgbClr val="1F2D3D"/>
                    </a:solidFill>
                  </a:rPr>
                  <a:t>biți</a:t>
                </a:r>
                <a:r>
                  <a:rPr lang="en-US" sz="1600" dirty="0">
                    <a:solidFill>
                      <a:srgbClr val="1F2D3D"/>
                    </a:solidFill>
                  </a:rPr>
                  <a:t> </a:t>
                </a:r>
                <a:r>
                  <a:rPr lang="en-US" sz="1600" dirty="0" err="1">
                    <a:solidFill>
                      <a:srgbClr val="1F2D3D"/>
                    </a:solidFill>
                  </a:rPr>
                  <a:t>modificați</a:t>
                </a:r>
                <a:r>
                  <a:rPr lang="en-US" sz="1600" dirty="0">
                    <a:solidFill>
                      <a:srgbClr val="1F2D3D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 i="0" dirty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 sz="1600" i="0" dirty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i="0" dirty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 i="0" dirty="0">
                                <a:latin typeface="Cambria Math" panose="02040503050406030204" pitchFamily="18" charset="0"/>
                              </a:rPr>
                              <m:t>∣</m:t>
                            </m:r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00" i="0" dirty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bar>
                              <m:barPr>
                                <m:pos m:val="top"/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sz="1600" i="0" dirty="0">
                                    <a:latin typeface="Cambria Math" panose="02040503050406030204" pitchFamily="18" charset="0"/>
                                  </a:rPr>
                                  <m:t>1,</m:t>
                                </m:r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bar>
                          </m:e>
                        </m:d>
                      </m:e>
                    </m:func>
                  </m:oMath>
                </a14:m>
                <a:endParaRPr lang="ro-RO" sz="1600" dirty="0"/>
              </a:p>
              <a:p>
                <a:pPr marL="342900" indent="-342900">
                  <a:spcAft>
                    <a:spcPts val="1000"/>
                  </a:spcAft>
                  <a:buFont typeface="+mj-lt"/>
                  <a:buAutoNum type="arabicPeriod"/>
                </a:pPr>
                <a:r>
                  <a:rPr lang="ro-RO" sz="1600" dirty="0">
                    <a:solidFill>
                      <a:srgbClr val="1F2D3D"/>
                    </a:solidFill>
                  </a:rPr>
                  <a:t>Probabilitatea medie de modificare a biților: </a:t>
                </a:r>
                <a:br>
                  <a:rPr lang="ro-RO" sz="16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600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𝑚𝑒𝑑</m:t>
                            </m:r>
                          </m:sub>
                        </m:sSub>
                      </m:num>
                      <m:den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𝑙</m:t>
                        </m:r>
                      </m:den>
                    </m:f>
                    <m:r>
                      <a:rPr lang="en-US" sz="1600" i="0" dirty="0">
                        <a:latin typeface="Cambria Math" panose="02040503050406030204" pitchFamily="18" charset="0"/>
                      </a:rPr>
                      <m:t>⋅100%</m:t>
                    </m:r>
                  </m:oMath>
                </a14:m>
                <a:endParaRPr lang="ro-RO" sz="1600" dirty="0"/>
              </a:p>
              <a:p>
                <a:pPr marL="342900" indent="-342900">
                  <a:spcAft>
                    <a:spcPts val="1000"/>
                  </a:spcAft>
                  <a:buFont typeface="+mj-lt"/>
                  <a:buAutoNum type="arabicPeriod"/>
                </a:pPr>
                <a:r>
                  <a:rPr lang="ro-RO" sz="1600" dirty="0">
                    <a:solidFill>
                      <a:srgbClr val="1F2D3D"/>
                    </a:solidFill>
                  </a:rPr>
                  <a:t>Abaterea standard a numărului de biți modificați: </a:t>
                </a:r>
                <a:br>
                  <a:rPr lang="ro-RO" sz="1600" dirty="0">
                    <a:solidFill>
                      <a:srgbClr val="1F2D3D"/>
                    </a:solidFill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600" i="0" dirty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1600" i="0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00" i="0" dirty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600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6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1600" i="0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b>
                                        <m:r>
                                          <a:rPr lang="en-US" sz="1600" i="1" dirty="0">
                                            <a:latin typeface="Cambria Math" panose="02040503050406030204" pitchFamily="18" charset="0"/>
                                          </a:rPr>
                                          <m:t>𝑚𝑒𝑑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1600" i="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endParaRPr lang="ro-RO" sz="1600" dirty="0">
                  <a:solidFill>
                    <a:srgbClr val="1F2D3D"/>
                  </a:solidFill>
                </a:endParaRPr>
              </a:p>
              <a:p>
                <a:pPr marL="342900" indent="-342900">
                  <a:spcAft>
                    <a:spcPts val="1000"/>
                  </a:spcAft>
                  <a:buFont typeface="+mj-lt"/>
                  <a:buAutoNum type="arabicPeriod"/>
                </a:pPr>
                <a:r>
                  <a:rPr lang="en-US" sz="1600" dirty="0" err="1">
                    <a:solidFill>
                      <a:srgbClr val="1F2D3D"/>
                    </a:solidFill>
                  </a:rPr>
                  <a:t>Abaterea</a:t>
                </a:r>
                <a:r>
                  <a:rPr lang="en-US" sz="1600" dirty="0">
                    <a:solidFill>
                      <a:srgbClr val="1F2D3D"/>
                    </a:solidFill>
                  </a:rPr>
                  <a:t> standard a </a:t>
                </a:r>
                <a:r>
                  <a:rPr lang="en-US" sz="1600" dirty="0" err="1">
                    <a:solidFill>
                      <a:srgbClr val="1F2D3D"/>
                    </a:solidFill>
                  </a:rPr>
                  <a:t>probabilității</a:t>
                </a:r>
                <a:r>
                  <a:rPr lang="en-US" sz="1600" dirty="0">
                    <a:solidFill>
                      <a:srgbClr val="1F2D3D"/>
                    </a:solidFill>
                  </a:rPr>
                  <a:t> de </a:t>
                </a:r>
                <a:r>
                  <a:rPr lang="en-US" sz="1600" dirty="0" err="1">
                    <a:solidFill>
                      <a:srgbClr val="1F2D3D"/>
                    </a:solidFill>
                  </a:rPr>
                  <a:t>modificare</a:t>
                </a:r>
                <a:r>
                  <a:rPr lang="en-US" sz="1600" dirty="0">
                    <a:solidFill>
                      <a:srgbClr val="1F2D3D"/>
                    </a:solidFill>
                  </a:rPr>
                  <a:t>:</a:t>
                </a:r>
                <a14:m>
                  <m:oMath xmlns:m="http://schemas.openxmlformats.org/officeDocument/2006/math">
                    <m:r>
                      <a:rPr lang="ro-RO" sz="1600" b="0" i="0" dirty="0" smtClean="0">
                        <a:solidFill>
                          <a:srgbClr val="1F2D3D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ro-RO" sz="1600" b="0" i="0" dirty="0">
                    <a:solidFill>
                      <a:srgbClr val="1F2D3D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dirty="0" smtClean="0">
                        <a:solidFill>
                          <a:srgbClr val="1F2D3D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600" i="1" dirty="0" smtClean="0">
                        <a:solidFill>
                          <a:srgbClr val="1F2D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600" i="0" dirty="0" smtClean="0">
                        <a:solidFill>
                          <a:srgbClr val="1F2D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600" i="1" dirty="0" smtClean="0">
                            <a:solidFill>
                              <a:srgbClr val="1F2D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1600" i="1" dirty="0" smtClean="0">
                                <a:solidFill>
                                  <a:srgbClr val="1F2D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0" dirty="0" smtClean="0">
                                <a:solidFill>
                                  <a:srgbClr val="1F2D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600" i="1" dirty="0" smtClean="0">
                                <a:solidFill>
                                  <a:srgbClr val="1F2D3D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1600" i="0" dirty="0" smtClean="0">
                                <a:solidFill>
                                  <a:srgbClr val="1F2D3D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  <m:nary>
                          <m:naryPr>
                            <m:chr m:val="∑"/>
                            <m:limLoc m:val="undOvr"/>
                            <m:ctrlPr>
                              <a:rPr lang="en-US" sz="1600" i="1" dirty="0" smtClean="0">
                                <a:solidFill>
                                  <a:srgbClr val="1F2D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600" i="1" dirty="0" smtClean="0">
                                <a:solidFill>
                                  <a:srgbClr val="1F2D3D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600" i="0" dirty="0" smtClean="0">
                                <a:solidFill>
                                  <a:srgbClr val="1F2D3D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1600" i="1" dirty="0" smtClean="0">
                                <a:solidFill>
                                  <a:srgbClr val="1F2D3D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sz="1600" i="1" dirty="0" smtClean="0">
                                    <a:solidFill>
                                      <a:srgbClr val="1F2D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1600" i="1" dirty="0" smtClean="0">
                                        <a:solidFill>
                                          <a:srgbClr val="1F2D3D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1600" i="1" dirty="0" smtClean="0">
                                            <a:solidFill>
                                              <a:srgbClr val="1F2D3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sz="1600" i="1" dirty="0" smtClean="0">
                                                <a:solidFill>
                                                  <a:srgbClr val="1F2D3D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 dirty="0" smtClean="0">
                                                <a:solidFill>
                                                  <a:srgbClr val="1F2D3D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𝐵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 dirty="0" smtClean="0">
                                                <a:solidFill>
                                                  <a:srgbClr val="1F2D3D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600" i="1" dirty="0" smtClean="0">
                                            <a:solidFill>
                                              <a:srgbClr val="1F2D3D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den>
                                    </m:f>
                                    <m:r>
                                      <a:rPr lang="en-US" sz="1600" i="0" dirty="0" smtClean="0">
                                        <a:solidFill>
                                          <a:srgbClr val="1F2D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600" i="1" dirty="0" smtClean="0">
                                        <a:solidFill>
                                          <a:srgbClr val="1F2D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1600" i="0" dirty="0" smtClean="0">
                                    <a:solidFill>
                                      <a:srgbClr val="1F2D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  <m:r>
                      <a:rPr lang="en-US" sz="1600" i="0" dirty="0" smtClean="0">
                        <a:solidFill>
                          <a:srgbClr val="1F2D3D"/>
                        </a:solidFill>
                        <a:latin typeface="Cambria Math" panose="02040503050406030204" pitchFamily="18" charset="0"/>
                      </a:rPr>
                      <m:t>×100%</m:t>
                    </m:r>
                  </m:oMath>
                </a14:m>
                <a:endParaRPr sz="1600" dirty="0">
                  <a:solidFill>
                    <a:srgbClr val="1F2D3D"/>
                  </a:solidFill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9436" y="1417120"/>
                <a:ext cx="6122575" cy="4913909"/>
              </a:xfrm>
              <a:prstGeom prst="rect">
                <a:avLst/>
              </a:prstGeom>
              <a:blipFill>
                <a:blip r:embed="rId3"/>
                <a:stretch>
                  <a:fillRect l="-621" t="-6701" b="-190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89444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C54A0C3-5130-F256-D151-030A909A4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est-confusion-diffusion-spread-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852" y="637031"/>
            <a:ext cx="7977052" cy="2791968"/>
          </a:xfrm>
          <a:prstGeom prst="rect">
            <a:avLst/>
          </a:prstGeom>
        </p:spPr>
      </p:pic>
      <p:pic>
        <p:nvPicPr>
          <p:cNvPr id="4" name="Picture 3" descr="test-confusion-diffusion-spr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852" y="3747516"/>
            <a:ext cx="7977052" cy="279196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5BF76-555A-01B7-A8CF-EA01B8D79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Statistici</a:t>
            </a:r>
            <a:r>
              <a:rPr lang="en-US" dirty="0"/>
              <a:t> </a:t>
            </a:r>
            <a:r>
              <a:rPr lang="en-US" dirty="0" err="1"/>
              <a:t>confuzie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difuzie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4B72B619-A0FF-E03C-C623-95FAA45198D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05862537"/>
                  </p:ext>
                </p:extLst>
              </p:nvPr>
            </p:nvGraphicFramePr>
            <p:xfrm>
              <a:off x="769143" y="3894512"/>
              <a:ext cx="10653713" cy="22250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521959">
                      <a:extLst>
                        <a:ext uri="{9D8B030D-6E8A-4147-A177-3AD203B41FA5}">
                          <a16:colId xmlns:a16="http://schemas.microsoft.com/office/drawing/2014/main" val="2003183813"/>
                        </a:ext>
                      </a:extLst>
                    </a:gridCol>
                    <a:gridCol w="1521959">
                      <a:extLst>
                        <a:ext uri="{9D8B030D-6E8A-4147-A177-3AD203B41FA5}">
                          <a16:colId xmlns:a16="http://schemas.microsoft.com/office/drawing/2014/main" val="174519268"/>
                        </a:ext>
                      </a:extLst>
                    </a:gridCol>
                    <a:gridCol w="1521959">
                      <a:extLst>
                        <a:ext uri="{9D8B030D-6E8A-4147-A177-3AD203B41FA5}">
                          <a16:colId xmlns:a16="http://schemas.microsoft.com/office/drawing/2014/main" val="71770804"/>
                        </a:ext>
                      </a:extLst>
                    </a:gridCol>
                    <a:gridCol w="1521959">
                      <a:extLst>
                        <a:ext uri="{9D8B030D-6E8A-4147-A177-3AD203B41FA5}">
                          <a16:colId xmlns:a16="http://schemas.microsoft.com/office/drawing/2014/main" val="3037317691"/>
                        </a:ext>
                      </a:extLst>
                    </a:gridCol>
                    <a:gridCol w="1521959">
                      <a:extLst>
                        <a:ext uri="{9D8B030D-6E8A-4147-A177-3AD203B41FA5}">
                          <a16:colId xmlns:a16="http://schemas.microsoft.com/office/drawing/2014/main" val="658414633"/>
                        </a:ext>
                      </a:extLst>
                    </a:gridCol>
                    <a:gridCol w="1521959">
                      <a:extLst>
                        <a:ext uri="{9D8B030D-6E8A-4147-A177-3AD203B41FA5}">
                          <a16:colId xmlns:a16="http://schemas.microsoft.com/office/drawing/2014/main" val="2566187155"/>
                        </a:ext>
                      </a:extLst>
                    </a:gridCol>
                    <a:gridCol w="1521959">
                      <a:extLst>
                        <a:ext uri="{9D8B030D-6E8A-4147-A177-3AD203B41FA5}">
                          <a16:colId xmlns:a16="http://schemas.microsoft.com/office/drawing/2014/main" val="123466806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dirty="0" smtClean="0"/>
                                    </m:ctrlPr>
                                  </m:sSubPr>
                                  <m:e>
                                    <m:r>
                                      <a:rPr lang="en-US" dirty="0" smtClean="0"/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dirty="0" smtClean="0"/>
                                      <m:t>𝑚𝑒𝑑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dirty="0" smtClean="0"/>
                                    </m:ctrlPr>
                                  </m:sSubPr>
                                  <m:e>
                                    <m:r>
                                      <a:rPr lang="en-US" dirty="0" smtClean="0"/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dirty="0" smtClean="0"/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dirty="0" smtClean="0"/>
                                    </m:ctrlPr>
                                  </m:sSubPr>
                                  <m:e>
                                    <m:r>
                                      <a:rPr lang="en-US" dirty="0" smtClean="0"/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dirty="0" smtClean="0"/>
                                      <m:t>𝑚𝑎𝑥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/>
                                  <m:t>𝑃</m:t>
                                </m:r>
                                <m:d>
                                  <m:dPr>
                                    <m:ctrlPr>
                                      <a:rPr lang="en-US" dirty="0" smtClean="0"/>
                                    </m:ctrlPr>
                                  </m:dPr>
                                  <m:e>
                                    <m:r>
                                      <a:rPr lang="en-US" dirty="0" smtClean="0"/>
                                      <m:t>%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dirty="0" smtClean="0"/>
                                  <m:t>Δ</m:t>
                                </m:r>
                                <m:r>
                                  <a:rPr lang="en-US" dirty="0" smtClean="0"/>
                                  <m:t>𝐵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dirty="0" smtClean="0"/>
                                  <m:t>Δ</m:t>
                                </m:r>
                                <m:r>
                                  <a:rPr lang="en-US" dirty="0" smtClean="0"/>
                                  <m:t>𝑃</m:t>
                                </m:r>
                                <m:d>
                                  <m:dPr>
                                    <m:ctrlPr>
                                      <a:rPr lang="en-US" dirty="0" smtClean="0"/>
                                    </m:ctrlPr>
                                  </m:dPr>
                                  <m:e>
                                    <m:r>
                                      <a:rPr lang="en-US" dirty="0" smtClean="0"/>
                                      <m:t>%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404453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64.0420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50.0328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5.7768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4.5131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7312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2500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63.9260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49.9422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5.6045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4.3785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37452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64.0060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50.0047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5.7832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4.5181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633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7500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64.0007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50.0005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5.5848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4.3631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93255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64.0771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50.0602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5.6502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4.4142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166518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4B72B619-A0FF-E03C-C623-95FAA45198D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405862537"/>
                  </p:ext>
                </p:extLst>
              </p:nvPr>
            </p:nvGraphicFramePr>
            <p:xfrm>
              <a:off x="769143" y="3894512"/>
              <a:ext cx="10653713" cy="22250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521959">
                      <a:extLst>
                        <a:ext uri="{9D8B030D-6E8A-4147-A177-3AD203B41FA5}">
                          <a16:colId xmlns:a16="http://schemas.microsoft.com/office/drawing/2014/main" val="2003183813"/>
                        </a:ext>
                      </a:extLst>
                    </a:gridCol>
                    <a:gridCol w="1521959">
                      <a:extLst>
                        <a:ext uri="{9D8B030D-6E8A-4147-A177-3AD203B41FA5}">
                          <a16:colId xmlns:a16="http://schemas.microsoft.com/office/drawing/2014/main" val="174519268"/>
                        </a:ext>
                      </a:extLst>
                    </a:gridCol>
                    <a:gridCol w="1521959">
                      <a:extLst>
                        <a:ext uri="{9D8B030D-6E8A-4147-A177-3AD203B41FA5}">
                          <a16:colId xmlns:a16="http://schemas.microsoft.com/office/drawing/2014/main" val="71770804"/>
                        </a:ext>
                      </a:extLst>
                    </a:gridCol>
                    <a:gridCol w="1521959">
                      <a:extLst>
                        <a:ext uri="{9D8B030D-6E8A-4147-A177-3AD203B41FA5}">
                          <a16:colId xmlns:a16="http://schemas.microsoft.com/office/drawing/2014/main" val="3037317691"/>
                        </a:ext>
                      </a:extLst>
                    </a:gridCol>
                    <a:gridCol w="1521959">
                      <a:extLst>
                        <a:ext uri="{9D8B030D-6E8A-4147-A177-3AD203B41FA5}">
                          <a16:colId xmlns:a16="http://schemas.microsoft.com/office/drawing/2014/main" val="658414633"/>
                        </a:ext>
                      </a:extLst>
                    </a:gridCol>
                    <a:gridCol w="1521959">
                      <a:extLst>
                        <a:ext uri="{9D8B030D-6E8A-4147-A177-3AD203B41FA5}">
                          <a16:colId xmlns:a16="http://schemas.microsoft.com/office/drawing/2014/main" val="2566187155"/>
                        </a:ext>
                      </a:extLst>
                    </a:gridCol>
                    <a:gridCol w="1521959">
                      <a:extLst>
                        <a:ext uri="{9D8B030D-6E8A-4147-A177-3AD203B41FA5}">
                          <a16:colId xmlns:a16="http://schemas.microsoft.com/office/drawing/2014/main" val="123466806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t="-3448" r="-600833" b="-5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3448" r="-500833" b="-5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3448" r="-400833" b="-5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3448" r="-300833" b="-5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000" t="-3448" r="-200833" b="-5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000" t="-3448" r="-100833" b="-5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00000" t="-3448" r="-833" b="-5310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04453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64.0420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50.0328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5.7768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4.5131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73123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2500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63.9260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49.9422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5.6045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4.3785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374523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5000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64.0060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50.0047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5.7832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4.5181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63303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7500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64.0007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50.0005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5.5848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4.3631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393255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10000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64.0771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50.0602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5.6502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4.4142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9166518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DD9E16-04D0-AF6D-C288-98602E34202F}"/>
                  </a:ext>
                </a:extLst>
              </p:cNvPr>
              <p:cNvSpPr txBox="1"/>
              <p:nvPr/>
            </p:nvSpPr>
            <p:spPr>
              <a:xfrm>
                <a:off x="769142" y="1674674"/>
                <a:ext cx="10653577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err="1"/>
                  <a:t>Diagramele</a:t>
                </a:r>
                <a:r>
                  <a:rPr lang="en-US" dirty="0"/>
                  <a:t> din slide-ul precedent sunt generate </a:t>
                </a:r>
                <a:r>
                  <a:rPr lang="en-US" dirty="0" err="1"/>
                  <a:t>pentru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=10000</m:t>
                    </m:r>
                  </m:oMath>
                </a14:m>
                <a:r>
                  <a:rPr lang="en-US" dirty="0"/>
                  <a:t> de teste.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err="1"/>
                  <a:t>Valorile</a:t>
                </a:r>
                <a:r>
                  <a:rPr lang="en-US" dirty="0"/>
                  <a:t> din </a:t>
                </a:r>
                <a:r>
                  <a:rPr lang="en-US" dirty="0" err="1"/>
                  <a:t>tabelul</a:t>
                </a:r>
                <a:r>
                  <a:rPr lang="en-US" dirty="0"/>
                  <a:t> </a:t>
                </a:r>
                <a:r>
                  <a:rPr lang="en-US" dirty="0" err="1"/>
                  <a:t>următor</a:t>
                </a:r>
                <a:r>
                  <a:rPr lang="en-US" dirty="0"/>
                  <a:t> </a:t>
                </a:r>
                <a:r>
                  <a:rPr lang="en-US" dirty="0" err="1"/>
                  <a:t>reprezintă</a:t>
                </a:r>
                <a:r>
                  <a:rPr lang="en-US" dirty="0"/>
                  <a:t> </a:t>
                </a:r>
                <a:r>
                  <a:rPr lang="en-US" dirty="0" err="1"/>
                  <a:t>statisticile</a:t>
                </a:r>
                <a:r>
                  <a:rPr lang="en-US" dirty="0"/>
                  <a:t> </a:t>
                </a:r>
                <a:r>
                  <a:rPr lang="en-US" dirty="0" err="1"/>
                  <a:t>descrise</a:t>
                </a:r>
                <a:r>
                  <a:rPr lang="en-US" dirty="0"/>
                  <a:t> precedent </a:t>
                </a:r>
                <a:r>
                  <a:rPr lang="en-US" dirty="0" err="1"/>
                  <a:t>pentru</a:t>
                </a:r>
                <a:r>
                  <a:rPr lang="en-US" dirty="0"/>
                  <a:t> diverse </a:t>
                </a:r>
                <a:r>
                  <a:rPr lang="en-US" dirty="0" err="1"/>
                  <a:t>valori</a:t>
                </a:r>
                <a:r>
                  <a:rPr lang="en-US" dirty="0"/>
                  <a:t> ale </a:t>
                </a:r>
                <a:r>
                  <a:rPr lang="en-US" dirty="0" err="1"/>
                  <a:t>lui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o-RO" b="0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err="1"/>
                  <a:t>Valoarea</a:t>
                </a:r>
                <a:r>
                  <a:rPr lang="en-US" dirty="0"/>
                  <a:t> </a:t>
                </a:r>
                <a:r>
                  <a:rPr lang="en-US" dirty="0" err="1"/>
                  <a:t>ideală</a:t>
                </a:r>
                <a:r>
                  <a:rPr lang="en-US" dirty="0"/>
                  <a:t> </a:t>
                </a:r>
                <a:r>
                  <a:rPr lang="en-US" dirty="0" err="1"/>
                  <a:t>pentru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𝑚𝑒𝑑</m:t>
                        </m:r>
                      </m:sub>
                    </m:sSub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err="1"/>
                  <a:t>este</a:t>
                </a:r>
                <a:r>
                  <a:rPr lang="en-US" dirty="0"/>
                  <a:t> </a:t>
                </a:r>
                <a:r>
                  <a:rPr lang="en-US" dirty="0" err="1"/>
                  <a:t>cât</a:t>
                </a:r>
                <a:r>
                  <a:rPr lang="en-US" dirty="0"/>
                  <a:t> </a:t>
                </a:r>
                <a:r>
                  <a:rPr lang="en-US" dirty="0" err="1"/>
                  <a:t>mai</a:t>
                </a:r>
                <a:r>
                  <a:rPr lang="en-US" dirty="0"/>
                  <a:t> </a:t>
                </a:r>
                <a:r>
                  <a:rPr lang="en-US" dirty="0" err="1"/>
                  <a:t>aproape</a:t>
                </a:r>
                <a:r>
                  <a:rPr lang="en-US" dirty="0"/>
                  <a:t> 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iar</a:t>
                </a:r>
                <a:r>
                  <a:rPr lang="en-US" dirty="0"/>
                  <a:t> </a:t>
                </a:r>
                <a:r>
                  <a:rPr lang="en-US" dirty="0" err="1"/>
                  <a:t>valorile</a:t>
                </a:r>
                <a:r>
                  <a:rPr lang="en-US" dirty="0"/>
                  <a:t> </a:t>
                </a:r>
                <a:r>
                  <a:rPr lang="en-US" dirty="0" err="1"/>
                  <a:t>pentru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și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ro-RO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err="1"/>
                  <a:t>trebuie</a:t>
                </a:r>
                <a:r>
                  <a:rPr lang="en-US" dirty="0"/>
                  <a:t> </a:t>
                </a:r>
                <a:r>
                  <a:rPr lang="en-US" dirty="0" err="1"/>
                  <a:t>să</a:t>
                </a:r>
                <a:r>
                  <a:rPr lang="en-US" dirty="0"/>
                  <a:t> fie </a:t>
                </a:r>
                <a:r>
                  <a:rPr lang="en-US" dirty="0" err="1"/>
                  <a:t>cât</a:t>
                </a:r>
                <a:r>
                  <a:rPr lang="en-US" dirty="0"/>
                  <a:t> </a:t>
                </a:r>
                <a:r>
                  <a:rPr lang="en-US" dirty="0" err="1"/>
                  <a:t>mai</a:t>
                </a:r>
                <a:r>
                  <a:rPr lang="en-US" dirty="0"/>
                  <a:t> </a:t>
                </a:r>
                <a:r>
                  <a:rPr lang="en-US" dirty="0" err="1"/>
                  <a:t>mici</a:t>
                </a:r>
                <a:r>
                  <a:rPr lang="en-US" dirty="0"/>
                  <a:t>, </a:t>
                </a:r>
                <a:r>
                  <a:rPr lang="en-US" dirty="0" err="1"/>
                  <a:t>pentru</a:t>
                </a:r>
                <a:r>
                  <a:rPr lang="en-US" dirty="0"/>
                  <a:t> a indica o </a:t>
                </a:r>
                <a:r>
                  <a:rPr lang="en-US" dirty="0" err="1"/>
                  <a:t>grupare</a:t>
                </a:r>
                <a:r>
                  <a:rPr lang="en-US" dirty="0"/>
                  <a:t> a </a:t>
                </a:r>
                <a:r>
                  <a:rPr lang="en-US" dirty="0" err="1"/>
                  <a:t>numărului</a:t>
                </a:r>
                <a:r>
                  <a:rPr lang="en-US" dirty="0"/>
                  <a:t> de </a:t>
                </a:r>
                <a:r>
                  <a:rPr lang="en-US" dirty="0" err="1"/>
                  <a:t>biți</a:t>
                </a:r>
                <a:r>
                  <a:rPr lang="en-US" dirty="0"/>
                  <a:t> </a:t>
                </a:r>
                <a:r>
                  <a:rPr lang="en-US" dirty="0" err="1"/>
                  <a:t>schimbați</a:t>
                </a:r>
                <a:r>
                  <a:rPr lang="en-US" dirty="0"/>
                  <a:t> </a:t>
                </a:r>
                <a:r>
                  <a:rPr lang="en-US" dirty="0" err="1"/>
                  <a:t>cât</a:t>
                </a:r>
                <a:r>
                  <a:rPr lang="en-US" dirty="0"/>
                  <a:t> </a:t>
                </a:r>
                <a:r>
                  <a:rPr lang="en-US" dirty="0" err="1"/>
                  <a:t>mai</a:t>
                </a:r>
                <a:r>
                  <a:rPr lang="en-US" dirty="0"/>
                  <a:t> </a:t>
                </a:r>
                <a:r>
                  <a:rPr lang="en-US" dirty="0" err="1"/>
                  <a:t>apropiată</a:t>
                </a:r>
                <a:r>
                  <a:rPr lang="en-US" dirty="0"/>
                  <a:t> 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/2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DD9E16-04D0-AF6D-C288-98602E3420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142" y="1674674"/>
                <a:ext cx="10653577" cy="1477328"/>
              </a:xfrm>
              <a:prstGeom prst="rect">
                <a:avLst/>
              </a:prstGeom>
              <a:blipFill>
                <a:blip r:embed="rId3"/>
                <a:stretch>
                  <a:fillRect l="-357" t="-2564" b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4661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39536-226E-9F32-8A2F-AF81E7F1D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Rezistența</a:t>
            </a:r>
            <a:r>
              <a:rPr lang="en-US" dirty="0"/>
              <a:t> la </a:t>
            </a:r>
            <a:r>
              <a:rPr lang="en-US" dirty="0" err="1"/>
              <a:t>coliziuni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DD83F1-658C-40E0-99F2-FCE1B3AEA1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err="1"/>
                  <a:t>Pornind</a:t>
                </a:r>
                <a:r>
                  <a:rPr lang="en-US" dirty="0"/>
                  <a:t> de la </a:t>
                </a:r>
                <a:r>
                  <a:rPr lang="en-US" dirty="0" err="1"/>
                  <a:t>paradoxul</a:t>
                </a:r>
                <a:r>
                  <a:rPr lang="en-US" dirty="0"/>
                  <a:t> </a:t>
                </a:r>
                <a:r>
                  <a:rPr lang="en-US" dirty="0" err="1"/>
                  <a:t>zilei</a:t>
                </a:r>
                <a:r>
                  <a:rPr lang="en-US" dirty="0"/>
                  <a:t> de </a:t>
                </a:r>
                <a:r>
                  <a:rPr lang="en-US" dirty="0" err="1"/>
                  <a:t>naștere</a:t>
                </a:r>
                <a:r>
                  <a:rPr lang="en-US" dirty="0"/>
                  <a:t>, se </a:t>
                </a:r>
                <a:r>
                  <a:rPr lang="en-US" dirty="0" err="1"/>
                  <a:t>poate</a:t>
                </a:r>
                <a:r>
                  <a:rPr lang="en-US" dirty="0"/>
                  <a:t> </a:t>
                </a:r>
                <a:r>
                  <a:rPr lang="en-US" dirty="0" err="1"/>
                  <a:t>demonstra</a:t>
                </a:r>
                <a:r>
                  <a:rPr lang="en-US" dirty="0"/>
                  <a:t> </a:t>
                </a:r>
                <a:r>
                  <a:rPr lang="en-US" dirty="0" err="1"/>
                  <a:t>că</a:t>
                </a:r>
                <a:r>
                  <a:rPr lang="en-US" dirty="0"/>
                  <a:t>, </a:t>
                </a:r>
                <a:r>
                  <a:rPr lang="en-US" dirty="0" err="1"/>
                  <a:t>pentru</a:t>
                </a:r>
                <a:r>
                  <a:rPr lang="en-US" dirty="0"/>
                  <a:t> o </a:t>
                </a:r>
                <a:r>
                  <a:rPr lang="en-US" dirty="0" err="1"/>
                  <a:t>funcție</a:t>
                </a:r>
                <a:r>
                  <a:rPr lang="en-US" dirty="0"/>
                  <a:t> hash de </a:t>
                </a:r>
                <a:r>
                  <a:rPr lang="en-US" dirty="0" err="1"/>
                  <a:t>lungime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biți</a:t>
                </a:r>
                <a:r>
                  <a:rPr lang="en-US" dirty="0"/>
                  <a:t> sunt </a:t>
                </a:r>
                <a:r>
                  <a:rPr lang="en-US" dirty="0" err="1"/>
                  <a:t>necesare</a:t>
                </a:r>
                <a:r>
                  <a:rPr lang="en-US" dirty="0"/>
                  <a:t> </a:t>
                </a:r>
                <a:r>
                  <a:rPr lang="en-US" dirty="0" err="1"/>
                  <a:t>aproximativ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operații</a:t>
                </a:r>
                <a:r>
                  <a:rPr lang="en-US" dirty="0"/>
                  <a:t> de </a:t>
                </a:r>
                <a:r>
                  <a:rPr lang="en-US" dirty="0" err="1"/>
                  <a:t>calcul</a:t>
                </a:r>
                <a:r>
                  <a:rPr lang="en-US" dirty="0"/>
                  <a:t> al hash-</a:t>
                </a:r>
                <a:r>
                  <a:rPr lang="en-US" dirty="0" err="1"/>
                  <a:t>ului</a:t>
                </a:r>
                <a:r>
                  <a:rPr lang="en-US" dirty="0"/>
                  <a:t> </a:t>
                </a:r>
                <a:r>
                  <a:rPr lang="en-US" dirty="0" err="1"/>
                  <a:t>pentru</a:t>
                </a:r>
                <a:r>
                  <a:rPr lang="en-US" dirty="0"/>
                  <a:t> a </a:t>
                </a:r>
                <a:r>
                  <a:rPr lang="en-US" dirty="0" err="1"/>
                  <a:t>găsi</a:t>
                </a:r>
                <a:r>
                  <a:rPr lang="en-US" dirty="0"/>
                  <a:t> o </a:t>
                </a:r>
                <a:r>
                  <a:rPr lang="en-US" dirty="0" err="1"/>
                  <a:t>coliziune</a:t>
                </a:r>
                <a:r>
                  <a:rPr lang="en-US" dirty="0"/>
                  <a:t>.</a:t>
                </a:r>
              </a:p>
              <a:p>
                <a:r>
                  <a:rPr lang="en-US" dirty="0" err="1"/>
                  <a:t>Modalitatea</a:t>
                </a:r>
                <a:r>
                  <a:rPr lang="en-US" dirty="0"/>
                  <a:t> de </a:t>
                </a:r>
                <a:r>
                  <a:rPr lang="en-US" dirty="0" err="1"/>
                  <a:t>evaluare</a:t>
                </a:r>
                <a:r>
                  <a:rPr lang="en-US" dirty="0"/>
                  <a:t> a </a:t>
                </a:r>
                <a:r>
                  <a:rPr lang="en-US" dirty="0" err="1"/>
                  <a:t>rezistenței</a:t>
                </a:r>
                <a:r>
                  <a:rPr lang="en-US" dirty="0"/>
                  <a:t> la </a:t>
                </a:r>
                <a:r>
                  <a:rPr lang="en-US" dirty="0" err="1"/>
                  <a:t>coliziuni</a:t>
                </a:r>
                <a:r>
                  <a:rPr lang="en-US" dirty="0"/>
                  <a:t> hash </a:t>
                </a:r>
                <a:r>
                  <a:rPr lang="en-US" dirty="0" err="1"/>
                  <a:t>este</a:t>
                </a:r>
                <a:r>
                  <a:rPr lang="en-US" dirty="0"/>
                  <a:t> </a:t>
                </a:r>
                <a:r>
                  <a:rPr lang="en-US" dirty="0" err="1"/>
                  <a:t>următoarea</a:t>
                </a:r>
                <a:r>
                  <a:rPr lang="en-US" dirty="0"/>
                  <a:t>: se </a:t>
                </a:r>
                <a:r>
                  <a:rPr lang="en-US" dirty="0" err="1"/>
                  <a:t>generează</a:t>
                </a:r>
                <a:br>
                  <a:rPr lang="en-US" dirty="0"/>
                </a:br>
                <a:r>
                  <a:rPr lang="en-US" dirty="0"/>
                  <a:t>un set de 𝑁 </a:t>
                </a:r>
                <a:r>
                  <a:rPr lang="en-US" dirty="0" err="1"/>
                  <a:t>mesaje</a:t>
                </a:r>
                <a:r>
                  <a:rPr lang="en-US" dirty="0"/>
                  <a:t> </a:t>
                </a:r>
                <a:r>
                  <a:rPr lang="en-US" dirty="0" err="1"/>
                  <a:t>aleatorii</a:t>
                </a:r>
                <a:r>
                  <a:rPr lang="en-US" dirty="0"/>
                  <a:t>, de </a:t>
                </a:r>
                <a:r>
                  <a:rPr lang="en-US" dirty="0" err="1"/>
                  <a:t>lungime</a:t>
                </a:r>
                <a:r>
                  <a:rPr lang="en-US" dirty="0"/>
                  <a:t> </a:t>
                </a:r>
                <a:r>
                  <a:rPr lang="en-US" dirty="0" err="1"/>
                  <a:t>aleatoare</a:t>
                </a:r>
                <a:r>
                  <a:rPr lang="en-US" dirty="0"/>
                  <a:t>. </a:t>
                </a:r>
                <a:r>
                  <a:rPr lang="en-US" dirty="0" err="1"/>
                  <a:t>Pentru</a:t>
                </a:r>
                <a:r>
                  <a:rPr lang="en-US" dirty="0"/>
                  <a:t> </a:t>
                </a:r>
                <a:r>
                  <a:rPr lang="en-US" dirty="0" err="1"/>
                  <a:t>fiecare</a:t>
                </a:r>
                <a:r>
                  <a:rPr lang="en-US" dirty="0"/>
                  <a:t> </a:t>
                </a:r>
                <a:r>
                  <a:rPr lang="en-US" dirty="0" err="1"/>
                  <a:t>mesaj</a:t>
                </a:r>
                <a:r>
                  <a:rPr lang="en-US" dirty="0"/>
                  <a:t> 𝑀 se </a:t>
                </a:r>
                <a:r>
                  <a:rPr lang="en-US" dirty="0" err="1"/>
                  <a:t>calculează</a:t>
                </a:r>
                <a:r>
                  <a:rPr lang="en-US" dirty="0"/>
                  <a:t> hash-ul, se </a:t>
                </a:r>
                <a:r>
                  <a:rPr lang="en-US" dirty="0" err="1"/>
                  <a:t>schimbă</a:t>
                </a:r>
                <a:r>
                  <a:rPr lang="en-US" dirty="0"/>
                  <a:t> un bit ales </a:t>
                </a:r>
                <a:r>
                  <a:rPr lang="en-US" dirty="0" err="1"/>
                  <a:t>arbitrar</a:t>
                </a:r>
                <a:r>
                  <a:rPr lang="en-US" dirty="0"/>
                  <a:t> din </a:t>
                </a:r>
                <a:r>
                  <a:rPr lang="en-US" dirty="0" err="1"/>
                  <a:t>mesajul</a:t>
                </a:r>
                <a:r>
                  <a:rPr lang="en-US" dirty="0"/>
                  <a:t> </a:t>
                </a:r>
                <a:r>
                  <a:rPr lang="en-US" dirty="0" err="1"/>
                  <a:t>inițial</a:t>
                </a:r>
                <a:r>
                  <a:rPr lang="en-US" dirty="0"/>
                  <a:t> </a:t>
                </a:r>
                <a:r>
                  <a:rPr lang="en-US" dirty="0" err="1"/>
                  <a:t>obținându</a:t>
                </a:r>
                <a:r>
                  <a:rPr lang="en-US" dirty="0"/>
                  <a:t>-se 𝑀′. Se </a:t>
                </a:r>
                <a:r>
                  <a:rPr lang="en-US" dirty="0" err="1"/>
                  <a:t>calculează</a:t>
                </a:r>
                <a:r>
                  <a:rPr lang="en-US" dirty="0"/>
                  <a:t> hash-ul </a:t>
                </a:r>
                <a:r>
                  <a:rPr lang="en-US" dirty="0" err="1"/>
                  <a:t>și</a:t>
                </a:r>
                <a:r>
                  <a:rPr lang="en-US" dirty="0"/>
                  <a:t> </a:t>
                </a:r>
                <a:r>
                  <a:rPr lang="en-US" dirty="0" err="1"/>
                  <a:t>pentru</a:t>
                </a:r>
                <a:r>
                  <a:rPr lang="en-US" dirty="0"/>
                  <a:t> </a:t>
                </a:r>
                <a:r>
                  <a:rPr lang="en-US" dirty="0" err="1"/>
                  <a:t>mesajul</a:t>
                </a:r>
                <a:r>
                  <a:rPr lang="en-US" dirty="0"/>
                  <a:t> </a:t>
                </a:r>
                <a:r>
                  <a:rPr lang="en-US" dirty="0" err="1"/>
                  <a:t>modificat</a:t>
                </a:r>
                <a:r>
                  <a:rPr lang="en-US" dirty="0"/>
                  <a:t> </a:t>
                </a:r>
                <a:r>
                  <a:rPr lang="en-US" dirty="0" err="1"/>
                  <a:t>și</a:t>
                </a:r>
                <a:r>
                  <a:rPr lang="en-US" dirty="0"/>
                  <a:t> se </a:t>
                </a:r>
                <a:r>
                  <a:rPr lang="en-US" dirty="0" err="1"/>
                  <a:t>calculează</a:t>
                </a:r>
                <a:r>
                  <a:rPr lang="en-US" dirty="0"/>
                  <a:t> </a:t>
                </a:r>
                <a:r>
                  <a:rPr lang="en-US" dirty="0" err="1"/>
                  <a:t>numărul</a:t>
                </a:r>
                <a:r>
                  <a:rPr lang="en-US" dirty="0"/>
                  <a:t> de bytes </a:t>
                </a:r>
                <a:r>
                  <a:rPr lang="en-US" dirty="0" err="1"/>
                  <a:t>egali</a:t>
                </a:r>
                <a:r>
                  <a:rPr lang="en-US" dirty="0"/>
                  <a:t> </a:t>
                </a:r>
                <a:r>
                  <a:rPr lang="en-US" dirty="0" err="1"/>
                  <a:t>între</a:t>
                </a:r>
                <a:r>
                  <a:rPr lang="en-US" dirty="0"/>
                  <a:t> </a:t>
                </a:r>
                <a:r>
                  <a:rPr lang="en-US" dirty="0" err="1"/>
                  <a:t>cele</a:t>
                </a:r>
                <a:r>
                  <a:rPr lang="en-US" dirty="0"/>
                  <a:t> </a:t>
                </a:r>
                <a:r>
                  <a:rPr lang="en-US" dirty="0" err="1"/>
                  <a:t>două</a:t>
                </a:r>
                <a:r>
                  <a:rPr lang="en-US" dirty="0"/>
                  <a:t> hash-</a:t>
                </a:r>
                <a:r>
                  <a:rPr lang="en-US" dirty="0" err="1"/>
                  <a:t>uri</a:t>
                </a:r>
                <a:r>
                  <a:rPr lang="en-US" dirty="0"/>
                  <a:t>. </a:t>
                </a:r>
                <a:r>
                  <a:rPr lang="en-US" dirty="0" err="1"/>
                  <a:t>În</a:t>
                </a:r>
                <a:r>
                  <a:rPr lang="en-US" dirty="0"/>
                  <a:t> plus, se </a:t>
                </a:r>
                <a:r>
                  <a:rPr lang="en-US" dirty="0" err="1"/>
                  <a:t>calculează</a:t>
                </a:r>
                <a:r>
                  <a:rPr lang="en-US" dirty="0"/>
                  <a:t> </a:t>
                </a:r>
                <a:r>
                  <a:rPr lang="en-US" dirty="0" err="1"/>
                  <a:t>și</a:t>
                </a:r>
                <a:r>
                  <a:rPr lang="en-US" dirty="0"/>
                  <a:t> </a:t>
                </a:r>
                <a:r>
                  <a:rPr lang="en-US" dirty="0" err="1"/>
                  <a:t>suma</a:t>
                </a:r>
                <a:r>
                  <a:rPr lang="en-US" dirty="0"/>
                  <a:t> </a:t>
                </a:r>
                <a:r>
                  <a:rPr lang="en-US" dirty="0" err="1"/>
                  <a:t>diferențelor</a:t>
                </a:r>
                <a:r>
                  <a:rPr lang="en-US" dirty="0"/>
                  <a:t> absolute a bytes-</a:t>
                </a:r>
                <a:r>
                  <a:rPr lang="en-US" dirty="0" err="1"/>
                  <a:t>ilor</a:t>
                </a:r>
                <a:r>
                  <a:rPr lang="en-US" dirty="0"/>
                  <a:t> </a:t>
                </a:r>
                <a:r>
                  <a:rPr lang="en-US" dirty="0" err="1"/>
                  <a:t>celor</a:t>
                </a:r>
                <a:r>
                  <a:rPr lang="en-US" dirty="0"/>
                  <a:t> </a:t>
                </a:r>
                <a:r>
                  <a:rPr lang="en-US" dirty="0" err="1"/>
                  <a:t>două</a:t>
                </a:r>
                <a:r>
                  <a:rPr lang="en-US" dirty="0"/>
                  <a:t> hash-</a:t>
                </a:r>
                <a:r>
                  <a:rPr lang="en-US" dirty="0" err="1"/>
                  <a:t>uri</a:t>
                </a:r>
                <a:r>
                  <a:rPr lang="en-US" dirty="0"/>
                  <a:t> </a:t>
                </a:r>
                <a:r>
                  <a:rPr lang="en-US" dirty="0" err="1"/>
                  <a:t>după</a:t>
                </a:r>
                <a:r>
                  <a:rPr lang="en-US" dirty="0"/>
                  <a:t> formula:</a:t>
                </a:r>
              </a:p>
              <a:p>
                <a:pPr marL="2286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0" dirty="0" err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 dirty="0" err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0" dirty="0" err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0" dirty="0" err="1" smtClean="0">
                              <a:latin typeface="Cambria Math" panose="02040503050406030204" pitchFamily="18" charset="0"/>
                            </a:rPr>
                            <m:t>/8</m:t>
                          </m:r>
                        </m:sup>
                        <m:e>
                          <m: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𝐷𝑒𝑐</m:t>
                          </m:r>
                          <m:d>
                            <m:dPr>
                              <m:ctrlPr>
                                <a:rPr lang="en-US" i="1" dirty="0" err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 err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sSub>
                                <m:sSubPr>
                                  <m:ctrlPr>
                                    <a:rPr lang="en-US" i="1" dirty="0" err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i="1" dirty="0" err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 dirty="0" err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i="1" dirty="0" err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0" dirty="0" err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dirty="0" err="1" smtClean="0">
                              <a:latin typeface="Cambria Math" panose="02040503050406030204" pitchFamily="18" charset="0"/>
                            </a:rPr>
                            <m:t>𝐷𝑒𝑐</m:t>
                          </m:r>
                          <m:d>
                            <m:d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 err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sSub>
                                <m:sSubPr>
                                  <m:ctrlPr>
                                    <a:rPr lang="en-US" i="1" dirty="0" err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i="1" dirty="0" err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 dirty="0" err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 err="1" smtClean="0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  <m:sub>
                                          <m:r>
                                            <a:rPr lang="en-US" i="1" dirty="0" err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i="1" dirty="0" err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DD83F1-658C-40E0-99F2-FCE1B3AEA1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6" b="-26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86261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CFD4D-6442-7478-2B16-E9931A12C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Statistici</a:t>
            </a:r>
            <a:r>
              <a:rPr lang="en-US" dirty="0"/>
              <a:t> </a:t>
            </a:r>
            <a:r>
              <a:rPr lang="en-US" dirty="0" err="1"/>
              <a:t>rezistență</a:t>
            </a:r>
            <a:r>
              <a:rPr lang="en-US" dirty="0"/>
              <a:t> la </a:t>
            </a:r>
            <a:r>
              <a:rPr lang="en-US" dirty="0" err="1"/>
              <a:t>coliziuni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EA406B-8B3D-F1F5-263A-52681E24F5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2775" y="2148007"/>
            <a:ext cx="10653713" cy="372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3511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099D6-6CD3-4F22-DA18-3285B13EA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Statistici</a:t>
            </a:r>
            <a:r>
              <a:rPr lang="en-US" dirty="0"/>
              <a:t> </a:t>
            </a:r>
            <a:r>
              <a:rPr lang="en-US" dirty="0" err="1"/>
              <a:t>rezistență</a:t>
            </a:r>
            <a:r>
              <a:rPr lang="en-US" dirty="0"/>
              <a:t> la </a:t>
            </a:r>
            <a:r>
              <a:rPr lang="en-US" dirty="0" err="1"/>
              <a:t>coliziuni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8EBE7AA-27FC-889A-ACF3-B3B6DBC65D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3386536"/>
              </p:ext>
            </p:extLst>
          </p:nvPr>
        </p:nvGraphicFramePr>
        <p:xfrm>
          <a:off x="612648" y="2516466"/>
          <a:ext cx="10321515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2147">
                  <a:extLst>
                    <a:ext uri="{9D8B030D-6E8A-4147-A177-3AD203B41FA5}">
                      <a16:colId xmlns:a16="http://schemas.microsoft.com/office/drawing/2014/main" val="4161423586"/>
                    </a:ext>
                  </a:extLst>
                </a:gridCol>
                <a:gridCol w="1441890">
                  <a:extLst>
                    <a:ext uri="{9D8B030D-6E8A-4147-A177-3AD203B41FA5}">
                      <a16:colId xmlns:a16="http://schemas.microsoft.com/office/drawing/2014/main" val="734859958"/>
                    </a:ext>
                  </a:extLst>
                </a:gridCol>
                <a:gridCol w="1340245">
                  <a:extLst>
                    <a:ext uri="{9D8B030D-6E8A-4147-A177-3AD203B41FA5}">
                      <a16:colId xmlns:a16="http://schemas.microsoft.com/office/drawing/2014/main" val="1590943846"/>
                    </a:ext>
                  </a:extLst>
                </a:gridCol>
                <a:gridCol w="1024998">
                  <a:extLst>
                    <a:ext uri="{9D8B030D-6E8A-4147-A177-3AD203B41FA5}">
                      <a16:colId xmlns:a16="http://schemas.microsoft.com/office/drawing/2014/main" val="4151880309"/>
                    </a:ext>
                  </a:extLst>
                </a:gridCol>
                <a:gridCol w="1045914">
                  <a:extLst>
                    <a:ext uri="{9D8B030D-6E8A-4147-A177-3AD203B41FA5}">
                      <a16:colId xmlns:a16="http://schemas.microsoft.com/office/drawing/2014/main" val="4253548712"/>
                    </a:ext>
                  </a:extLst>
                </a:gridCol>
                <a:gridCol w="962244">
                  <a:extLst>
                    <a:ext uri="{9D8B030D-6E8A-4147-A177-3AD203B41FA5}">
                      <a16:colId xmlns:a16="http://schemas.microsoft.com/office/drawing/2014/main" val="2709538959"/>
                    </a:ext>
                  </a:extLst>
                </a:gridCol>
                <a:gridCol w="1004077">
                  <a:extLst>
                    <a:ext uri="{9D8B030D-6E8A-4147-A177-3AD203B41FA5}">
                      <a16:colId xmlns:a16="http://schemas.microsoft.com/office/drawing/2014/main" val="16890162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Bytes </a:t>
                      </a:r>
                      <a:r>
                        <a:rPr lang="en-US" dirty="0" err="1"/>
                        <a:t>egali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325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Hash-</a:t>
                      </a:r>
                      <a:r>
                        <a:rPr lang="en-US" dirty="0" err="1"/>
                        <a:t>uri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600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Valori </a:t>
                      </a:r>
                      <a:r>
                        <a:rPr lang="en-US" dirty="0" err="1"/>
                        <a:t>teoretice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9393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524500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6CB6428-5405-3507-0370-85B117591A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95714"/>
              </p:ext>
            </p:extLst>
          </p:nvPr>
        </p:nvGraphicFramePr>
        <p:xfrm>
          <a:off x="612647" y="4041721"/>
          <a:ext cx="10321515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64303">
                  <a:extLst>
                    <a:ext uri="{9D8B030D-6E8A-4147-A177-3AD203B41FA5}">
                      <a16:colId xmlns:a16="http://schemas.microsoft.com/office/drawing/2014/main" val="1578446827"/>
                    </a:ext>
                  </a:extLst>
                </a:gridCol>
                <a:gridCol w="2064303">
                  <a:extLst>
                    <a:ext uri="{9D8B030D-6E8A-4147-A177-3AD203B41FA5}">
                      <a16:colId xmlns:a16="http://schemas.microsoft.com/office/drawing/2014/main" val="2760315018"/>
                    </a:ext>
                  </a:extLst>
                </a:gridCol>
                <a:gridCol w="2064303">
                  <a:extLst>
                    <a:ext uri="{9D8B030D-6E8A-4147-A177-3AD203B41FA5}">
                      <a16:colId xmlns:a16="http://schemas.microsoft.com/office/drawing/2014/main" val="933067698"/>
                    </a:ext>
                  </a:extLst>
                </a:gridCol>
                <a:gridCol w="2064303">
                  <a:extLst>
                    <a:ext uri="{9D8B030D-6E8A-4147-A177-3AD203B41FA5}">
                      <a16:colId xmlns:a16="http://schemas.microsoft.com/office/drawing/2014/main" val="3833459202"/>
                    </a:ext>
                  </a:extLst>
                </a:gridCol>
                <a:gridCol w="2064303">
                  <a:extLst>
                    <a:ext uri="{9D8B030D-6E8A-4147-A177-3AD203B41FA5}">
                      <a16:colId xmlns:a16="http://schemas.microsoft.com/office/drawing/2014/main" val="27454390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Minim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Maxim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Medie/byte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931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1365.9250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85.3703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932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1365.3423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85.3338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222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1364.9053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85.3066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342480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599239-615B-B900-3940-0717CED05DF0}"/>
                  </a:ext>
                </a:extLst>
              </p:cNvPr>
              <p:cNvSpPr txBox="1"/>
              <p:nvPr/>
            </p:nvSpPr>
            <p:spPr>
              <a:xfrm>
                <a:off x="612649" y="1349018"/>
                <a:ext cx="10653577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 err="1"/>
                  <a:t>Valoarea</a:t>
                </a:r>
                <a:r>
                  <a:rPr lang="en-US" dirty="0"/>
                  <a:t> </a:t>
                </a:r>
                <a:r>
                  <a:rPr lang="en-US" dirty="0" err="1"/>
                  <a:t>teoretică</a:t>
                </a:r>
                <a:r>
                  <a:rPr lang="en-US" dirty="0"/>
                  <a:t> </a:t>
                </a:r>
                <a:r>
                  <a:rPr lang="en-US" dirty="0" err="1"/>
                  <a:t>pentru</a:t>
                </a:r>
                <a:r>
                  <a:rPr lang="en-US" dirty="0"/>
                  <a:t> media </a:t>
                </a:r>
                <a:r>
                  <a:rPr lang="en-US" dirty="0" err="1"/>
                  <a:t>diferențelor</a:t>
                </a:r>
                <a:r>
                  <a:rPr lang="en-US" dirty="0"/>
                  <a:t> absolute a bytes-</a:t>
                </a:r>
                <a:r>
                  <a:rPr lang="en-US" dirty="0" err="1"/>
                  <a:t>ilor</a:t>
                </a:r>
                <a:r>
                  <a:rPr lang="en-US" dirty="0"/>
                  <a:t>, </a:t>
                </a:r>
                <a:r>
                  <a:rPr lang="en-US" dirty="0" err="1"/>
                  <a:t>pentru</a:t>
                </a:r>
                <a:r>
                  <a:rPr lang="en-US" dirty="0"/>
                  <a:t> hash de </a:t>
                </a:r>
                <a:r>
                  <a:rPr lang="en-US" dirty="0" err="1"/>
                  <a:t>lungime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=128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biți</a:t>
                </a:r>
                <a:r>
                  <a:rPr lang="en-US" dirty="0"/>
                  <a:t> </a:t>
                </a:r>
                <a:r>
                  <a:rPr lang="en-US" dirty="0" err="1"/>
                  <a:t>este</a:t>
                </a:r>
                <a:r>
                  <a:rPr lang="en-US" dirty="0"/>
                  <a:t> 1360. Se </a:t>
                </a:r>
                <a:r>
                  <a:rPr lang="en-US" dirty="0" err="1"/>
                  <a:t>observă</a:t>
                </a:r>
                <a:r>
                  <a:rPr lang="en-US" dirty="0"/>
                  <a:t> </a:t>
                </a:r>
                <a:r>
                  <a:rPr lang="en-US" dirty="0" err="1"/>
                  <a:t>că</a:t>
                </a:r>
                <a:r>
                  <a:rPr lang="en-US" dirty="0"/>
                  <a:t> </a:t>
                </a:r>
                <a:r>
                  <a:rPr lang="en-US" dirty="0" err="1"/>
                  <a:t>valorile</a:t>
                </a:r>
                <a:r>
                  <a:rPr lang="en-US" dirty="0"/>
                  <a:t> </a:t>
                </a:r>
                <a:r>
                  <a:rPr lang="en-US" dirty="0" err="1"/>
                  <a:t>obținute</a:t>
                </a:r>
                <a:r>
                  <a:rPr lang="en-US" dirty="0"/>
                  <a:t> sunt </a:t>
                </a:r>
                <a:r>
                  <a:rPr lang="en-US" dirty="0" err="1"/>
                  <a:t>foarte</a:t>
                </a:r>
                <a:r>
                  <a:rPr lang="en-US" dirty="0"/>
                  <a:t> </a:t>
                </a:r>
                <a:r>
                  <a:rPr lang="en-US" dirty="0" err="1"/>
                  <a:t>aproape</a:t>
                </a:r>
                <a:r>
                  <a:rPr lang="en-US" dirty="0"/>
                  <a:t> de </a:t>
                </a:r>
                <a:r>
                  <a:rPr lang="en-US" dirty="0" err="1"/>
                  <a:t>cele</a:t>
                </a:r>
                <a:r>
                  <a:rPr lang="en-US" dirty="0"/>
                  <a:t> </a:t>
                </a:r>
                <a:r>
                  <a:rPr lang="en-US" dirty="0" err="1"/>
                  <a:t>teoretice</a:t>
                </a:r>
                <a:r>
                  <a:rPr lang="en-US" dirty="0"/>
                  <a:t>, </a:t>
                </a:r>
                <a:r>
                  <a:rPr lang="en-US" dirty="0" err="1"/>
                  <a:t>ceea</a:t>
                </a:r>
                <a:r>
                  <a:rPr lang="en-US" dirty="0"/>
                  <a:t> </a:t>
                </a:r>
                <a:r>
                  <a:rPr lang="en-US" dirty="0" err="1"/>
                  <a:t>ce</a:t>
                </a:r>
                <a:r>
                  <a:rPr lang="en-US" dirty="0"/>
                  <a:t> </a:t>
                </a:r>
                <a:r>
                  <a:rPr lang="en-US" dirty="0" err="1"/>
                  <a:t>indică</a:t>
                </a:r>
                <a:r>
                  <a:rPr lang="en-US" dirty="0"/>
                  <a:t> o </a:t>
                </a:r>
                <a:r>
                  <a:rPr lang="en-US" dirty="0" err="1"/>
                  <a:t>rezistență</a:t>
                </a:r>
                <a:r>
                  <a:rPr lang="en-US" dirty="0"/>
                  <a:t> la </a:t>
                </a:r>
                <a:r>
                  <a:rPr lang="en-US" dirty="0" err="1"/>
                  <a:t>coliziuni</a:t>
                </a:r>
                <a:r>
                  <a:rPr lang="en-US" dirty="0"/>
                  <a:t> </a:t>
                </a:r>
                <a:r>
                  <a:rPr lang="en-US" dirty="0" err="1"/>
                  <a:t>foarte</a:t>
                </a:r>
                <a:r>
                  <a:rPr lang="en-US" dirty="0"/>
                  <a:t> </a:t>
                </a:r>
                <a:r>
                  <a:rPr lang="en-US" dirty="0" err="1"/>
                  <a:t>bună</a:t>
                </a:r>
                <a:r>
                  <a:rPr lang="en-US" dirty="0"/>
                  <a:t>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3599239-615B-B900-3940-0717CED05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9" y="1349018"/>
                <a:ext cx="10653577" cy="923330"/>
              </a:xfrm>
              <a:prstGeom prst="rect">
                <a:avLst/>
              </a:prstGeom>
              <a:blipFill>
                <a:blip r:embed="rId2"/>
                <a:stretch>
                  <a:fillRect l="-357" t="-2703"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88340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4611F-08E8-7B47-45E8-D9FE144A3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Distribuția</a:t>
            </a:r>
            <a:r>
              <a:rPr lang="en-US" dirty="0"/>
              <a:t> </a:t>
            </a:r>
            <a:r>
              <a:rPr lang="en-US" dirty="0" err="1"/>
              <a:t>valorilor</a:t>
            </a:r>
            <a:r>
              <a:rPr lang="en-US" dirty="0"/>
              <a:t> hash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FB9B5-2D4C-82A2-0456-B5C56D59F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Modalitatea</a:t>
            </a:r>
            <a:r>
              <a:rPr lang="en-US" dirty="0"/>
              <a:t> de a </a:t>
            </a:r>
            <a:r>
              <a:rPr lang="en-US" dirty="0" err="1"/>
              <a:t>testa</a:t>
            </a:r>
            <a:r>
              <a:rPr lang="en-US" dirty="0"/>
              <a:t> </a:t>
            </a:r>
            <a:r>
              <a:rPr lang="en-US" dirty="0" err="1"/>
              <a:t>distribuția</a:t>
            </a:r>
            <a:r>
              <a:rPr lang="en-US" dirty="0"/>
              <a:t> </a:t>
            </a:r>
            <a:r>
              <a:rPr lang="en-US" dirty="0" err="1"/>
              <a:t>valorilor</a:t>
            </a:r>
            <a:r>
              <a:rPr lang="en-US" dirty="0"/>
              <a:t> hash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similară</a:t>
            </a:r>
            <a:r>
              <a:rPr lang="en-US" dirty="0"/>
              <a:t> cu </a:t>
            </a:r>
            <a:r>
              <a:rPr lang="en-US" dirty="0" err="1"/>
              <a:t>cea</a:t>
            </a:r>
            <a:r>
              <a:rPr lang="en-US" dirty="0"/>
              <a:t> </a:t>
            </a:r>
            <a:r>
              <a:rPr lang="en-US" dirty="0" err="1"/>
              <a:t>utilizată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testarea</a:t>
            </a:r>
            <a:r>
              <a:rPr lang="en-US" dirty="0"/>
              <a:t> </a:t>
            </a:r>
            <a:r>
              <a:rPr lang="en-US" dirty="0" err="1"/>
              <a:t>confuziei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difuziei</a:t>
            </a:r>
            <a:r>
              <a:rPr lang="en-US" dirty="0"/>
              <a:t>. Se </a:t>
            </a:r>
            <a:r>
              <a:rPr lang="en-US" dirty="0" err="1"/>
              <a:t>generează</a:t>
            </a:r>
            <a:r>
              <a:rPr lang="en-US" dirty="0"/>
              <a:t> un set de 𝑁 </a:t>
            </a:r>
            <a:r>
              <a:rPr lang="en-US" dirty="0" err="1"/>
              <a:t>mesaje</a:t>
            </a:r>
            <a:r>
              <a:rPr lang="en-US" dirty="0"/>
              <a:t> </a:t>
            </a:r>
            <a:r>
              <a:rPr lang="en-US" dirty="0" err="1"/>
              <a:t>aleatorii</a:t>
            </a:r>
            <a:r>
              <a:rPr lang="en-US" dirty="0"/>
              <a:t>, de </a:t>
            </a:r>
            <a:r>
              <a:rPr lang="en-US" dirty="0" err="1"/>
              <a:t>lungime</a:t>
            </a:r>
            <a:r>
              <a:rPr lang="en-US" dirty="0"/>
              <a:t> </a:t>
            </a:r>
            <a:r>
              <a:rPr lang="en-US" dirty="0" err="1"/>
              <a:t>aleatoare</a:t>
            </a:r>
            <a:r>
              <a:rPr lang="en-US" dirty="0"/>
              <a:t>.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mesaj</a:t>
            </a:r>
            <a:r>
              <a:rPr lang="en-US" dirty="0"/>
              <a:t> 𝑀 se </a:t>
            </a:r>
            <a:r>
              <a:rPr lang="en-US" dirty="0" err="1"/>
              <a:t>calculează</a:t>
            </a:r>
            <a:r>
              <a:rPr lang="en-US" dirty="0"/>
              <a:t> hash-ul, se </a:t>
            </a:r>
            <a:r>
              <a:rPr lang="en-US" dirty="0" err="1"/>
              <a:t>schimbă</a:t>
            </a:r>
            <a:r>
              <a:rPr lang="en-US" dirty="0"/>
              <a:t> un bit ales </a:t>
            </a:r>
            <a:r>
              <a:rPr lang="en-US" dirty="0" err="1"/>
              <a:t>aleatoriu</a:t>
            </a:r>
            <a:r>
              <a:rPr lang="en-US" dirty="0"/>
              <a:t> din </a:t>
            </a:r>
            <a:r>
              <a:rPr lang="en-US" dirty="0" err="1"/>
              <a:t>mesajul</a:t>
            </a:r>
            <a:r>
              <a:rPr lang="en-US" dirty="0"/>
              <a:t> </a:t>
            </a:r>
            <a:r>
              <a:rPr lang="en-US" dirty="0" err="1"/>
              <a:t>inițial</a:t>
            </a:r>
            <a:r>
              <a:rPr lang="en-US" dirty="0"/>
              <a:t> </a:t>
            </a:r>
            <a:r>
              <a:rPr lang="en-US" dirty="0" err="1"/>
              <a:t>obținându</a:t>
            </a:r>
            <a:r>
              <a:rPr lang="en-US" dirty="0"/>
              <a:t>-se 𝑀′. Se </a:t>
            </a:r>
            <a:r>
              <a:rPr lang="en-US" dirty="0" err="1"/>
              <a:t>calculează</a:t>
            </a:r>
            <a:r>
              <a:rPr lang="en-US" dirty="0"/>
              <a:t> hash-ul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mesajul</a:t>
            </a:r>
            <a:r>
              <a:rPr lang="en-US" dirty="0"/>
              <a:t> </a:t>
            </a:r>
            <a:r>
              <a:rPr lang="en-US" dirty="0" err="1"/>
              <a:t>modificat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se </a:t>
            </a:r>
            <a:r>
              <a:rPr lang="en-US" dirty="0" err="1"/>
              <a:t>numără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biți</a:t>
            </a:r>
            <a:r>
              <a:rPr lang="en-US" dirty="0"/>
              <a:t> s-au </a:t>
            </a:r>
            <a:r>
              <a:rPr lang="en-US" dirty="0" err="1"/>
              <a:t>schimbat</a:t>
            </a:r>
            <a:r>
              <a:rPr lang="en-US" dirty="0"/>
              <a:t> </a:t>
            </a:r>
            <a:r>
              <a:rPr lang="en-US" dirty="0" err="1"/>
              <a:t>între</a:t>
            </a:r>
            <a:r>
              <a:rPr lang="en-US" dirty="0"/>
              <a:t> </a:t>
            </a:r>
            <a:r>
              <a:rPr lang="en-US" dirty="0" err="1"/>
              <a:t>ℎ</a:t>
            </a:r>
            <a:r>
              <a:rPr lang="en-US" dirty="0"/>
              <a:t>(𝑀)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ℎ</a:t>
            </a:r>
            <a:r>
              <a:rPr lang="en-US" dirty="0"/>
              <a:t>(𝑀′).</a:t>
            </a:r>
          </a:p>
          <a:p>
            <a:r>
              <a:rPr lang="en-US" dirty="0" err="1"/>
              <a:t>Valoarea</a:t>
            </a:r>
            <a:r>
              <a:rPr lang="en-US" dirty="0"/>
              <a:t> </a:t>
            </a:r>
            <a:r>
              <a:rPr lang="en-US" dirty="0" err="1"/>
              <a:t>ideală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frecvența</a:t>
            </a:r>
            <a:r>
              <a:rPr lang="en-US" dirty="0"/>
              <a:t> </a:t>
            </a:r>
            <a:r>
              <a:rPr lang="en-US" dirty="0" err="1"/>
              <a:t>modificării</a:t>
            </a:r>
            <a:r>
              <a:rPr lang="en-US" dirty="0"/>
              <a:t> </a:t>
            </a:r>
            <a:r>
              <a:rPr lang="en-US" dirty="0" err="1"/>
              <a:t>fiecărui</a:t>
            </a:r>
            <a:r>
              <a:rPr lang="en-US" dirty="0"/>
              <a:t> bit al hash-</a:t>
            </a:r>
            <a:r>
              <a:rPr lang="en-US" dirty="0" err="1"/>
              <a:t>ului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de 50% din </a:t>
            </a:r>
            <a:r>
              <a:rPr lang="en-US" dirty="0" err="1"/>
              <a:t>numărul</a:t>
            </a:r>
            <a:r>
              <a:rPr lang="en-US" dirty="0"/>
              <a:t> total de teste. </a:t>
            </a:r>
            <a:r>
              <a:rPr lang="en-US" dirty="0" err="1"/>
              <a:t>Astfel</a:t>
            </a:r>
            <a:r>
              <a:rPr lang="en-US" dirty="0"/>
              <a:t>, </a:t>
            </a:r>
            <a:r>
              <a:rPr lang="en-US" dirty="0" err="1"/>
              <a:t>pentru</a:t>
            </a:r>
            <a:r>
              <a:rPr lang="en-US" dirty="0"/>
              <a:t> N=10000 de </a:t>
            </a:r>
            <a:r>
              <a:rPr lang="en-US" dirty="0" err="1"/>
              <a:t>mesaje</a:t>
            </a:r>
            <a:r>
              <a:rPr lang="en-US" dirty="0"/>
              <a:t>, </a:t>
            </a:r>
            <a:r>
              <a:rPr lang="en-US" dirty="0" err="1"/>
              <a:t>fiecare</a:t>
            </a:r>
            <a:r>
              <a:rPr lang="en-US" dirty="0"/>
              <a:t> bit al </a:t>
            </a:r>
            <a:r>
              <a:rPr lang="en-US" dirty="0" err="1"/>
              <a:t>mesajului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trebui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se </a:t>
            </a:r>
            <a:r>
              <a:rPr lang="en-US" dirty="0" err="1"/>
              <a:t>schimbe</a:t>
            </a:r>
            <a:r>
              <a:rPr lang="en-US" dirty="0"/>
              <a:t> de </a:t>
            </a:r>
            <a:r>
              <a:rPr lang="en-US" dirty="0" err="1"/>
              <a:t>aproximativ</a:t>
            </a:r>
            <a:r>
              <a:rPr lang="en-US" dirty="0"/>
              <a:t> 5000 de </a:t>
            </a:r>
            <a:r>
              <a:rPr lang="en-US" dirty="0" err="1"/>
              <a:t>ori</a:t>
            </a:r>
            <a:r>
              <a:rPr lang="en-US" dirty="0"/>
              <a:t>. </a:t>
            </a:r>
            <a:r>
              <a:rPr lang="en-US" dirty="0" err="1"/>
              <a:t>Valoarea</a:t>
            </a:r>
            <a:r>
              <a:rPr lang="en-US" dirty="0"/>
              <a:t> </a:t>
            </a:r>
            <a:r>
              <a:rPr lang="en-US" dirty="0" err="1"/>
              <a:t>minimă</a:t>
            </a:r>
            <a:r>
              <a:rPr lang="en-US" dirty="0"/>
              <a:t> </a:t>
            </a:r>
            <a:r>
              <a:rPr lang="en-US" dirty="0" err="1"/>
              <a:t>observată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de 4862, </a:t>
            </a:r>
            <a:r>
              <a:rPr lang="en-US" dirty="0" err="1"/>
              <a:t>valoarea</a:t>
            </a:r>
            <a:r>
              <a:rPr lang="en-US" dirty="0"/>
              <a:t> </a:t>
            </a:r>
            <a:r>
              <a:rPr lang="en-US" dirty="0" err="1"/>
              <a:t>maximă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de 5107,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valoarea</a:t>
            </a:r>
            <a:r>
              <a:rPr lang="en-US" dirty="0"/>
              <a:t> </a:t>
            </a:r>
            <a:r>
              <a:rPr lang="en-US" dirty="0" err="1"/>
              <a:t>medie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de 5000.98.</a:t>
            </a:r>
          </a:p>
        </p:txBody>
      </p:sp>
    </p:spTree>
    <p:extLst>
      <p:ext uri="{BB962C8B-B14F-4D97-AF65-F5344CB8AC3E}">
        <p14:creationId xmlns:p14="http://schemas.microsoft.com/office/powerpoint/2010/main" val="21372249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46846-2A18-10AD-85D0-4AD7B18DD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Statistici</a:t>
            </a:r>
            <a:r>
              <a:rPr lang="en-US" dirty="0"/>
              <a:t> </a:t>
            </a:r>
            <a:r>
              <a:rPr lang="en-US" dirty="0" err="1"/>
              <a:t>distribuția</a:t>
            </a:r>
            <a:r>
              <a:rPr lang="en-US" dirty="0"/>
              <a:t> </a:t>
            </a:r>
            <a:r>
              <a:rPr lang="en-US" dirty="0" err="1"/>
              <a:t>valorilor</a:t>
            </a:r>
            <a:r>
              <a:rPr lang="en-US" dirty="0"/>
              <a:t> hash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2B89D0-8C1D-4039-0F17-18C7F14DE1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2648" y="1680898"/>
            <a:ext cx="10653713" cy="372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1472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9C167-2B2D-FE05-C556-71BB9B5FD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Flexibilitate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4A6FB-4CF5-7216-5657-27EE18742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Având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vedere</a:t>
            </a:r>
            <a:r>
              <a:rPr lang="en-US" dirty="0"/>
              <a:t> </a:t>
            </a:r>
            <a:r>
              <a:rPr lang="en-US" dirty="0" err="1"/>
              <a:t>utilizarea</a:t>
            </a:r>
            <a:r>
              <a:rPr lang="en-US" dirty="0"/>
              <a:t> </a:t>
            </a:r>
            <a:r>
              <a:rPr lang="en-US" dirty="0" err="1"/>
              <a:t>construcției</a:t>
            </a:r>
            <a:r>
              <a:rPr lang="en-US" dirty="0"/>
              <a:t> Sponge </a:t>
            </a:r>
            <a:r>
              <a:rPr lang="en-US" dirty="0" err="1"/>
              <a:t>și</a:t>
            </a:r>
            <a:r>
              <a:rPr lang="en-US" dirty="0"/>
              <a:t> a </a:t>
            </a:r>
            <a:r>
              <a:rPr lang="en-US" dirty="0" err="1"/>
              <a:t>arborelui</a:t>
            </a:r>
            <a:r>
              <a:rPr lang="en-US" dirty="0"/>
              <a:t> Merkle, </a:t>
            </a:r>
            <a:r>
              <a:rPr lang="en-US" dirty="0" err="1"/>
              <a:t>funcția</a:t>
            </a:r>
            <a:r>
              <a:rPr lang="en-US" dirty="0"/>
              <a:t> hash</a:t>
            </a:r>
            <a:br>
              <a:rPr lang="en-US" dirty="0"/>
            </a:br>
            <a:r>
              <a:rPr lang="en-US" dirty="0" err="1"/>
              <a:t>propusă</a:t>
            </a:r>
            <a:r>
              <a:rPr lang="en-US" dirty="0"/>
              <a:t> </a:t>
            </a:r>
            <a:r>
              <a:rPr lang="en-US" dirty="0" err="1"/>
              <a:t>admite</a:t>
            </a:r>
            <a:r>
              <a:rPr lang="en-US" dirty="0"/>
              <a:t> o </a:t>
            </a:r>
            <a:r>
              <a:rPr lang="en-US" dirty="0" err="1"/>
              <a:t>dimensiune</a:t>
            </a:r>
            <a:r>
              <a:rPr lang="en-US" dirty="0"/>
              <a:t> a hash-</a:t>
            </a:r>
            <a:r>
              <a:rPr lang="en-US" dirty="0" err="1"/>
              <a:t>ului</a:t>
            </a:r>
            <a:r>
              <a:rPr lang="en-US" dirty="0"/>
              <a:t> final </a:t>
            </a:r>
            <a:r>
              <a:rPr lang="en-US" dirty="0" err="1"/>
              <a:t>configurabilă</a:t>
            </a:r>
            <a:r>
              <a:rPr lang="en-US" dirty="0"/>
              <a:t>. Din </a:t>
            </a:r>
            <a:r>
              <a:rPr lang="en-US" dirty="0" err="1"/>
              <a:t>punct</a:t>
            </a:r>
            <a:r>
              <a:rPr lang="en-US" dirty="0"/>
              <a:t> de </a:t>
            </a:r>
            <a:r>
              <a:rPr lang="en-US" dirty="0" err="1"/>
              <a:t>vedere</a:t>
            </a:r>
            <a:r>
              <a:rPr lang="en-US" dirty="0"/>
              <a:t> </a:t>
            </a:r>
            <a:r>
              <a:rPr lang="en-US" dirty="0" err="1"/>
              <a:t>teoretic</a:t>
            </a:r>
            <a:r>
              <a:rPr lang="en-US" dirty="0"/>
              <a:t>, </a:t>
            </a:r>
            <a:r>
              <a:rPr lang="en-US" dirty="0" err="1"/>
              <a:t>dimensiunea</a:t>
            </a:r>
            <a:r>
              <a:rPr lang="en-US" dirty="0"/>
              <a:t> hash-</a:t>
            </a:r>
            <a:r>
              <a:rPr lang="en-US" dirty="0" err="1"/>
              <a:t>ului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fi de </a:t>
            </a:r>
            <a:r>
              <a:rPr lang="en-US" dirty="0" err="1"/>
              <a:t>lungime</a:t>
            </a:r>
            <a:r>
              <a:rPr lang="en-US" dirty="0"/>
              <a:t> </a:t>
            </a:r>
            <a:r>
              <a:rPr lang="en-US" dirty="0" err="1"/>
              <a:t>arbitrară</a:t>
            </a:r>
            <a:r>
              <a:rPr lang="en-US" dirty="0"/>
              <a:t>: 128 </a:t>
            </a:r>
            <a:r>
              <a:rPr lang="en-US" dirty="0" err="1"/>
              <a:t>biți</a:t>
            </a:r>
            <a:r>
              <a:rPr lang="en-US" dirty="0"/>
              <a:t>, 192 </a:t>
            </a:r>
            <a:r>
              <a:rPr lang="en-US" dirty="0" err="1"/>
              <a:t>biți</a:t>
            </a:r>
            <a:r>
              <a:rPr lang="en-US" dirty="0"/>
              <a:t>, 256 </a:t>
            </a:r>
            <a:r>
              <a:rPr lang="en-US" dirty="0" err="1"/>
              <a:t>biți</a:t>
            </a:r>
            <a:r>
              <a:rPr lang="en-US" dirty="0"/>
              <a:t> etc.</a:t>
            </a:r>
          </a:p>
          <a:p>
            <a:r>
              <a:rPr lang="en-US" dirty="0" err="1"/>
              <a:t>Numărul</a:t>
            </a:r>
            <a:r>
              <a:rPr lang="en-US" dirty="0"/>
              <a:t> de </a:t>
            </a:r>
            <a:r>
              <a:rPr lang="en-US" dirty="0" err="1"/>
              <a:t>runde</a:t>
            </a:r>
            <a:r>
              <a:rPr lang="en-US" dirty="0"/>
              <a:t> </a:t>
            </a:r>
            <a:r>
              <a:rPr lang="en-US" dirty="0" err="1"/>
              <a:t>intermediare</a:t>
            </a:r>
            <a:r>
              <a:rPr lang="en-US" dirty="0"/>
              <a:t> </a:t>
            </a:r>
            <a:r>
              <a:rPr lang="en-US" dirty="0" err="1"/>
              <a:t>variază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funcție</a:t>
            </a:r>
            <a:r>
              <a:rPr lang="en-US" dirty="0"/>
              <a:t> de </a:t>
            </a:r>
            <a:r>
              <a:rPr lang="en-US" dirty="0" err="1"/>
              <a:t>lungimea</a:t>
            </a:r>
            <a:r>
              <a:rPr lang="en-US" dirty="0"/>
              <a:t> hash-</a:t>
            </a:r>
            <a:r>
              <a:rPr lang="en-US" dirty="0" err="1"/>
              <a:t>ului</a:t>
            </a:r>
            <a:r>
              <a:rPr lang="en-US" dirty="0"/>
              <a:t> final, </a:t>
            </a:r>
            <a:r>
              <a:rPr lang="en-US" dirty="0" err="1"/>
              <a:t>deci</a:t>
            </a:r>
            <a:r>
              <a:rPr lang="en-US" dirty="0"/>
              <a:t> </a:t>
            </a:r>
            <a:r>
              <a:rPr lang="en-US" dirty="0" err="1"/>
              <a:t>pentruacelași</a:t>
            </a:r>
            <a:r>
              <a:rPr lang="en-US" dirty="0"/>
              <a:t> </a:t>
            </a:r>
            <a:r>
              <a:rPr lang="en-US" dirty="0" err="1"/>
              <a:t>mesaj</a:t>
            </a:r>
            <a:r>
              <a:rPr lang="en-US" dirty="0"/>
              <a:t>, hash-urile de </a:t>
            </a:r>
            <a:r>
              <a:rPr lang="en-US" dirty="0" err="1"/>
              <a:t>lungimi</a:t>
            </a:r>
            <a:r>
              <a:rPr lang="en-US" dirty="0"/>
              <a:t> </a:t>
            </a:r>
            <a:r>
              <a:rPr lang="en-US" dirty="0" err="1"/>
              <a:t>diferite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fi </a:t>
            </a:r>
            <a:r>
              <a:rPr lang="en-US" dirty="0" err="1"/>
              <a:t>complet</a:t>
            </a:r>
            <a:r>
              <a:rPr lang="en-US" dirty="0"/>
              <a:t> </a:t>
            </a:r>
            <a:r>
              <a:rPr lang="en-US" dirty="0" err="1"/>
              <a:t>diferite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9511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6DF84-18B6-C1BF-B12A-5F8D138F1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Eficiență</a:t>
            </a:r>
            <a:r>
              <a:rPr lang="en-US" dirty="0"/>
              <a:t> </a:t>
            </a:r>
            <a:r>
              <a:rPr lang="en-US" dirty="0" err="1"/>
              <a:t>computațională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0D590-C233-5501-D11E-281DD6D20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Implementarea</a:t>
            </a:r>
            <a:r>
              <a:rPr lang="en-US" dirty="0"/>
              <a:t> </a:t>
            </a:r>
            <a:r>
              <a:rPr lang="en-US" dirty="0" err="1"/>
              <a:t>funcției</a:t>
            </a:r>
            <a:r>
              <a:rPr lang="en-US" dirty="0"/>
              <a:t> hash </a:t>
            </a:r>
            <a:r>
              <a:rPr lang="en-US" dirty="0" err="1"/>
              <a:t>propuse</a:t>
            </a:r>
            <a:r>
              <a:rPr lang="en-US" dirty="0"/>
              <a:t>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realizată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două</a:t>
            </a:r>
            <a:r>
              <a:rPr lang="en-US" dirty="0"/>
              <a:t> </a:t>
            </a:r>
            <a:r>
              <a:rPr lang="en-US" dirty="0" err="1"/>
              <a:t>limbaje</a:t>
            </a:r>
            <a:br>
              <a:rPr lang="en-US" dirty="0"/>
            </a:br>
            <a:r>
              <a:rPr lang="en-US" dirty="0"/>
              <a:t>de </a:t>
            </a:r>
            <a:r>
              <a:rPr lang="en-US" dirty="0" err="1"/>
              <a:t>programare</a:t>
            </a:r>
            <a:r>
              <a:rPr lang="en-US" dirty="0"/>
              <a:t> </a:t>
            </a:r>
            <a:r>
              <a:rPr lang="en-US" dirty="0" err="1"/>
              <a:t>diferite</a:t>
            </a:r>
            <a:r>
              <a:rPr lang="en-US" dirty="0"/>
              <a:t>: Go </a:t>
            </a:r>
            <a:r>
              <a:rPr lang="en-US" dirty="0" err="1"/>
              <a:t>și</a:t>
            </a:r>
            <a:r>
              <a:rPr lang="en-US" dirty="0"/>
              <a:t> Rust. </a:t>
            </a:r>
            <a:r>
              <a:rPr lang="en-US" dirty="0" err="1"/>
              <a:t>Ambele</a:t>
            </a:r>
            <a:r>
              <a:rPr lang="en-US" dirty="0"/>
              <a:t> </a:t>
            </a:r>
            <a:r>
              <a:rPr lang="en-US" dirty="0" err="1"/>
              <a:t>implementări</a:t>
            </a:r>
            <a:r>
              <a:rPr lang="en-US" dirty="0"/>
              <a:t> au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optimizate</a:t>
            </a:r>
            <a:r>
              <a:rPr lang="en-US" dirty="0"/>
              <a:t> </a:t>
            </a:r>
            <a:r>
              <a:rPr lang="en-US" dirty="0" err="1"/>
              <a:t>pentru</a:t>
            </a:r>
            <a:br>
              <a:rPr lang="en-US" dirty="0"/>
            </a:br>
            <a:r>
              <a:rPr lang="en-US" dirty="0" err="1"/>
              <a:t>performanță</a:t>
            </a:r>
            <a:r>
              <a:rPr lang="en-US" dirty="0"/>
              <a:t>, </a:t>
            </a:r>
            <a:r>
              <a:rPr lang="en-US" dirty="0" err="1"/>
              <a:t>implementarea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Rust </a:t>
            </a:r>
            <a:r>
              <a:rPr lang="en-US" dirty="0" err="1"/>
              <a:t>obținând</a:t>
            </a:r>
            <a:r>
              <a:rPr lang="en-US" dirty="0"/>
              <a:t> </a:t>
            </a:r>
            <a:r>
              <a:rPr lang="en-US" dirty="0" err="1"/>
              <a:t>viteze</a:t>
            </a:r>
            <a:r>
              <a:rPr lang="en-US" dirty="0"/>
              <a:t> cu 30-40%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mari</a:t>
            </a:r>
            <a:r>
              <a:rPr lang="en-US" dirty="0"/>
              <a:t> </a:t>
            </a:r>
            <a:r>
              <a:rPr lang="en-US" dirty="0" err="1"/>
              <a:t>decât</a:t>
            </a:r>
            <a:r>
              <a:rPr lang="en-US" dirty="0"/>
              <a:t> </a:t>
            </a:r>
            <a:r>
              <a:rPr lang="en-US" dirty="0" err="1"/>
              <a:t>cea</a:t>
            </a:r>
            <a:r>
              <a:rPr lang="en-US" dirty="0"/>
              <a:t> </a:t>
            </a:r>
            <a:r>
              <a:rPr lang="en-US" dirty="0" err="1"/>
              <a:t>în</a:t>
            </a:r>
            <a:br>
              <a:rPr lang="en-US" dirty="0"/>
            </a:br>
            <a:r>
              <a:rPr lang="en-US" dirty="0"/>
              <a:t>Go. </a:t>
            </a:r>
            <a:r>
              <a:rPr lang="en-US" dirty="0" err="1"/>
              <a:t>Funcția</a:t>
            </a:r>
            <a:r>
              <a:rPr lang="en-US" dirty="0"/>
              <a:t> hash </a:t>
            </a:r>
            <a:r>
              <a:rPr lang="en-US" dirty="0" err="1"/>
              <a:t>propusă</a:t>
            </a:r>
            <a:r>
              <a:rPr lang="en-US" dirty="0"/>
              <a:t>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testată</a:t>
            </a:r>
            <a:r>
              <a:rPr lang="en-US" dirty="0"/>
              <a:t> pe </a:t>
            </a:r>
            <a:r>
              <a:rPr lang="en-US" dirty="0" err="1"/>
              <a:t>seturi</a:t>
            </a:r>
            <a:r>
              <a:rPr lang="en-US" dirty="0"/>
              <a:t> de date de </a:t>
            </a:r>
            <a:r>
              <a:rPr lang="en-US" dirty="0" err="1"/>
              <a:t>dimensiuni</a:t>
            </a:r>
            <a:r>
              <a:rPr lang="en-US" dirty="0"/>
              <a:t> </a:t>
            </a:r>
            <a:r>
              <a:rPr lang="en-US" dirty="0" err="1"/>
              <a:t>variabile</a:t>
            </a:r>
            <a:r>
              <a:rPr lang="en-US" dirty="0"/>
              <a:t>, cu un</a:t>
            </a:r>
            <a:br>
              <a:rPr lang="en-US" dirty="0"/>
            </a:br>
            <a:r>
              <a:rPr lang="en-US" dirty="0" err="1"/>
              <a:t>număr</a:t>
            </a:r>
            <a:r>
              <a:rPr lang="en-US" dirty="0"/>
              <a:t> de </a:t>
            </a:r>
            <a:r>
              <a:rPr lang="en-US" dirty="0" err="1"/>
              <a:t>nuclee</a:t>
            </a:r>
            <a:r>
              <a:rPr lang="en-US" dirty="0"/>
              <a:t> </a:t>
            </a:r>
            <a:r>
              <a:rPr lang="en-US" dirty="0" err="1"/>
              <a:t>alocate</a:t>
            </a:r>
            <a:r>
              <a:rPr lang="en-US" dirty="0"/>
              <a:t> </a:t>
            </a:r>
            <a:r>
              <a:rPr lang="en-US" dirty="0" err="1"/>
              <a:t>variabile</a:t>
            </a:r>
            <a:r>
              <a:rPr lang="en-US" dirty="0"/>
              <a:t>.</a:t>
            </a:r>
          </a:p>
          <a:p>
            <a:r>
              <a:rPr lang="en-US" dirty="0" err="1"/>
              <a:t>Testele</a:t>
            </a:r>
            <a:r>
              <a:rPr lang="en-US" dirty="0"/>
              <a:t> au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efectuate</a:t>
            </a:r>
            <a:r>
              <a:rPr lang="en-US" dirty="0"/>
              <a:t> pe </a:t>
            </a:r>
            <a:r>
              <a:rPr lang="en-US" dirty="0" err="1"/>
              <a:t>trei</a:t>
            </a:r>
            <a:r>
              <a:rPr lang="en-US" dirty="0"/>
              <a:t> </a:t>
            </a:r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diferite</a:t>
            </a:r>
            <a:r>
              <a:rPr lang="en-US" dirty="0"/>
              <a:t>, cu</a:t>
            </a:r>
            <a:br>
              <a:rPr lang="en-US" dirty="0"/>
            </a:br>
            <a:r>
              <a:rPr lang="en-US" dirty="0" err="1"/>
              <a:t>configurații</a:t>
            </a:r>
            <a:r>
              <a:rPr lang="en-US" dirty="0"/>
              <a:t> hardware </a:t>
            </a:r>
            <a:r>
              <a:rPr lang="en-US" dirty="0" err="1"/>
              <a:t>diferite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cu </a:t>
            </a:r>
            <a:r>
              <a:rPr lang="en-US" dirty="0" err="1"/>
              <a:t>sisteme</a:t>
            </a:r>
            <a:r>
              <a:rPr lang="en-US" dirty="0"/>
              <a:t> de </a:t>
            </a:r>
            <a:r>
              <a:rPr lang="en-US" dirty="0" err="1"/>
              <a:t>operare</a:t>
            </a:r>
            <a:r>
              <a:rPr lang="en-US" dirty="0"/>
              <a:t> </a:t>
            </a:r>
            <a:r>
              <a:rPr lang="en-US" dirty="0" err="1"/>
              <a:t>diferite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Mac cu </a:t>
            </a:r>
            <a:r>
              <a:rPr lang="en-US" dirty="0" err="1"/>
              <a:t>procesor</a:t>
            </a:r>
            <a:r>
              <a:rPr lang="en-US" dirty="0"/>
              <a:t> Apple M2 Pro, 16GB RAM </a:t>
            </a:r>
            <a:r>
              <a:rPr lang="en-US" dirty="0" err="1"/>
              <a:t>și</a:t>
            </a:r>
            <a:r>
              <a:rPr lang="en-US" dirty="0"/>
              <a:t> macOS 15.6</a:t>
            </a:r>
          </a:p>
          <a:p>
            <a:pPr lvl="1"/>
            <a:r>
              <a:rPr lang="en-US" dirty="0"/>
              <a:t>Laptop cu </a:t>
            </a:r>
            <a:r>
              <a:rPr lang="en-US" dirty="0" err="1"/>
              <a:t>procesor</a:t>
            </a:r>
            <a:r>
              <a:rPr lang="en-US" dirty="0"/>
              <a:t> AMD Ryzen 7 8845HS, 32GB RAM </a:t>
            </a:r>
            <a:r>
              <a:rPr lang="en-US" dirty="0" err="1"/>
              <a:t>și</a:t>
            </a:r>
            <a:r>
              <a:rPr lang="en-US" dirty="0"/>
              <a:t> Ubuntu 24.04</a:t>
            </a:r>
          </a:p>
          <a:p>
            <a:pPr lvl="1"/>
            <a:r>
              <a:rPr lang="en-US" dirty="0"/>
              <a:t>Desktop cu </a:t>
            </a:r>
            <a:r>
              <a:rPr lang="en-US" dirty="0" err="1"/>
              <a:t>procesor</a:t>
            </a:r>
            <a:r>
              <a:rPr lang="en-US" dirty="0"/>
              <a:t> Intel Xeon Platinum 8370C, 64GB RAM </a:t>
            </a:r>
            <a:r>
              <a:rPr lang="en-US" dirty="0" err="1"/>
              <a:t>și</a:t>
            </a:r>
            <a:r>
              <a:rPr lang="en-US" dirty="0"/>
              <a:t> Windows 11</a:t>
            </a:r>
          </a:p>
        </p:txBody>
      </p:sp>
    </p:spTree>
    <p:extLst>
      <p:ext uri="{BB962C8B-B14F-4D97-AF65-F5344CB8AC3E}">
        <p14:creationId xmlns:p14="http://schemas.microsoft.com/office/powerpoint/2010/main" val="22171228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4858EE-F78E-F5DB-6616-7AD7EC140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1" y="501345"/>
            <a:ext cx="8728364" cy="689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/>
              <a:t>Viteza</a:t>
            </a:r>
            <a:r>
              <a:rPr lang="en-US" dirty="0"/>
              <a:t> </a:t>
            </a:r>
            <a:r>
              <a:rPr lang="en-US"/>
              <a:t>funcției</a:t>
            </a:r>
            <a:r>
              <a:rPr lang="en-US" dirty="0"/>
              <a:t> hash</a:t>
            </a: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245883-DC5F-7093-016A-430DFFADF9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1998" y="1782115"/>
            <a:ext cx="8128003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5931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67ED6D-CC26-4BE2-7EDF-951D04113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1" y="501345"/>
            <a:ext cx="8728364" cy="689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/>
              <a:t>Viteza</a:t>
            </a:r>
            <a:r>
              <a:rPr lang="en-US" dirty="0"/>
              <a:t> </a:t>
            </a:r>
            <a:r>
              <a:rPr lang="en-US"/>
              <a:t>funcției</a:t>
            </a:r>
            <a:r>
              <a:rPr lang="en-US" dirty="0"/>
              <a:t> hash</a:t>
            </a: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11188D-428E-30FA-9F11-8EBA4FD71D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2000" y="1782115"/>
            <a:ext cx="812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9847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871413-0100-FB12-D27F-02CE88B85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1" y="501345"/>
            <a:ext cx="8728364" cy="689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/>
              <a:t>Viteza</a:t>
            </a:r>
            <a:r>
              <a:rPr lang="en-US" dirty="0"/>
              <a:t> </a:t>
            </a:r>
            <a:r>
              <a:rPr lang="en-US"/>
              <a:t>funcției</a:t>
            </a:r>
            <a:r>
              <a:rPr lang="en-US" dirty="0"/>
              <a:t> hash</a:t>
            </a: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9FB01D-6954-7035-5B45-CA702D1D95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1998" y="1782115"/>
            <a:ext cx="8128003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5958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055EE-B0E5-95D2-5ED5-48734976D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Comparația</a:t>
            </a:r>
            <a:r>
              <a:rPr lang="en-US" dirty="0"/>
              <a:t> cu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funcții</a:t>
            </a:r>
            <a:r>
              <a:rPr lang="en-US" dirty="0"/>
              <a:t> hash – </a:t>
            </a:r>
            <a:r>
              <a:rPr lang="en-US" dirty="0" err="1"/>
              <a:t>statistici</a:t>
            </a:r>
            <a:r>
              <a:rPr lang="en-US" dirty="0"/>
              <a:t> </a:t>
            </a:r>
            <a:r>
              <a:rPr lang="en-US" dirty="0" err="1"/>
              <a:t>confuzie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difuzie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7E6E7066-5D1A-E6AE-591F-03D39F93B71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335522639"/>
                  </p:ext>
                </p:extLst>
              </p:nvPr>
            </p:nvGraphicFramePr>
            <p:xfrm>
              <a:off x="612775" y="1716088"/>
              <a:ext cx="10653713" cy="44500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529670">
                      <a:extLst>
                        <a:ext uri="{9D8B030D-6E8A-4147-A177-3AD203B41FA5}">
                          <a16:colId xmlns:a16="http://schemas.microsoft.com/office/drawing/2014/main" val="4283206560"/>
                        </a:ext>
                      </a:extLst>
                    </a:gridCol>
                    <a:gridCol w="1081825">
                      <a:extLst>
                        <a:ext uri="{9D8B030D-6E8A-4147-A177-3AD203B41FA5}">
                          <a16:colId xmlns:a16="http://schemas.microsoft.com/office/drawing/2014/main" val="2357137963"/>
                        </a:ext>
                      </a:extLst>
                    </a:gridCol>
                    <a:gridCol w="1262130">
                      <a:extLst>
                        <a:ext uri="{9D8B030D-6E8A-4147-A177-3AD203B41FA5}">
                          <a16:colId xmlns:a16="http://schemas.microsoft.com/office/drawing/2014/main" val="4140416527"/>
                        </a:ext>
                      </a:extLst>
                    </a:gridCol>
                    <a:gridCol w="1214211">
                      <a:extLst>
                        <a:ext uri="{9D8B030D-6E8A-4147-A177-3AD203B41FA5}">
                          <a16:colId xmlns:a16="http://schemas.microsoft.com/office/drawing/2014/main" val="1250876304"/>
                        </a:ext>
                      </a:extLst>
                    </a:gridCol>
                    <a:gridCol w="1521959">
                      <a:extLst>
                        <a:ext uri="{9D8B030D-6E8A-4147-A177-3AD203B41FA5}">
                          <a16:colId xmlns:a16="http://schemas.microsoft.com/office/drawing/2014/main" val="2304148264"/>
                        </a:ext>
                      </a:extLst>
                    </a:gridCol>
                    <a:gridCol w="1521959">
                      <a:extLst>
                        <a:ext uri="{9D8B030D-6E8A-4147-A177-3AD203B41FA5}">
                          <a16:colId xmlns:a16="http://schemas.microsoft.com/office/drawing/2014/main" val="2651018634"/>
                        </a:ext>
                      </a:extLst>
                    </a:gridCol>
                    <a:gridCol w="1521959">
                      <a:extLst>
                        <a:ext uri="{9D8B030D-6E8A-4147-A177-3AD203B41FA5}">
                          <a16:colId xmlns:a16="http://schemas.microsoft.com/office/drawing/2014/main" val="321259497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Funcția</a:t>
                          </a:r>
                          <a:r>
                            <a:rPr lang="en-US" dirty="0"/>
                            <a:t> hash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dirty="0" smtClean="0"/>
                                    </m:ctrlPr>
                                  </m:sSubPr>
                                  <m:e>
                                    <m:r>
                                      <a:rPr lang="en-US" dirty="0" smtClean="0"/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dirty="0" smtClean="0"/>
                                      <m:t>𝑚𝑒𝑑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dirty="0" smtClean="0"/>
                                    </m:ctrlPr>
                                  </m:sSubPr>
                                  <m:e>
                                    <m:r>
                                      <a:rPr lang="en-US" dirty="0" smtClean="0"/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dirty="0" smtClean="0"/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dirty="0" smtClean="0"/>
                                    </m:ctrlPr>
                                  </m:sSubPr>
                                  <m:e>
                                    <m:r>
                                      <a:rPr lang="en-US" dirty="0" smtClean="0"/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dirty="0" smtClean="0"/>
                                      <m:t>𝑚𝑎𝑥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/>
                                  <m:t>𝑃</m:t>
                                </m:r>
                                <m:d>
                                  <m:dPr>
                                    <m:ctrlPr>
                                      <a:rPr lang="en-US" dirty="0" smtClean="0"/>
                                    </m:ctrlPr>
                                  </m:dPr>
                                  <m:e>
                                    <m:r>
                                      <a:rPr lang="en-US" dirty="0" smtClean="0"/>
                                      <m:t>%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dirty="0" smtClean="0"/>
                                  <m:t>Δ</m:t>
                                </m:r>
                                <m:r>
                                  <a:rPr lang="en-US" dirty="0" smtClean="0"/>
                                  <m:t>𝐵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dirty="0" smtClean="0"/>
                                  <m:t>Δ</m:t>
                                </m:r>
                                <m:r>
                                  <a:rPr lang="en-US" dirty="0" smtClean="0"/>
                                  <m:t>𝑃</m:t>
                                </m:r>
                                <m:d>
                                  <m:dPr>
                                    <m:ctrlPr>
                                      <a:rPr lang="en-US" dirty="0" smtClean="0"/>
                                    </m:ctrlPr>
                                  </m:dPr>
                                  <m:e>
                                    <m:r>
                                      <a:rPr lang="en-US" dirty="0" smtClean="0"/>
                                      <m:t>%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41314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Funcția</a:t>
                          </a:r>
                          <a:r>
                            <a:rPr lang="en-US" dirty="0"/>
                            <a:t> </a:t>
                          </a:r>
                          <a:r>
                            <a:rPr lang="en-US" dirty="0" err="1"/>
                            <a:t>propusă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64.0771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50.0602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5.6502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4.4142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97488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Amin et al.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63.84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49.88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5.58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4.38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91922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Kanso</a:t>
                          </a:r>
                          <a:r>
                            <a:rPr lang="en-US" dirty="0"/>
                            <a:t> &amp; </a:t>
                          </a:r>
                          <a:r>
                            <a:rPr lang="en-US" dirty="0" err="1"/>
                            <a:t>Ghebleh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63.94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49.95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5.64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4.41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805567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Kanso</a:t>
                          </a:r>
                          <a:r>
                            <a:rPr lang="en-US" dirty="0"/>
                            <a:t> &amp; </a:t>
                          </a:r>
                          <a:r>
                            <a:rPr lang="en-US" dirty="0" err="1"/>
                            <a:t>Ghebleh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64.00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50.00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5.65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4.41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5009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Wu &amp; Wang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64.014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50.011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5.654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4.417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643126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Zhao et al.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63.9279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49.94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5.3234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4.16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688294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Li &amp; Li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64.0415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50.03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5.7929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4.53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392873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Ahmad et al.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63.781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49.828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5.937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4.638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930926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Boriga</a:t>
                          </a:r>
                          <a:r>
                            <a:rPr lang="en-US" dirty="0"/>
                            <a:t> &amp; </a:t>
                          </a:r>
                          <a:r>
                            <a:rPr lang="en-US" dirty="0" err="1"/>
                            <a:t>Tilcă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64.2136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50.3315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5.7040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4.3421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1202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Zaouia</a:t>
                          </a:r>
                          <a:r>
                            <a:rPr lang="en-US" dirty="0"/>
                            <a:t> et al.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64.005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50.004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5.582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4.361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17115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Valoarea</a:t>
                          </a:r>
                          <a:r>
                            <a:rPr lang="en-US" dirty="0"/>
                            <a:t> </a:t>
                          </a:r>
                          <a:r>
                            <a:rPr lang="en-US" dirty="0" err="1"/>
                            <a:t>ideală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303805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7E6E7066-5D1A-E6AE-591F-03D39F93B71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335522639"/>
                  </p:ext>
                </p:extLst>
              </p:nvPr>
            </p:nvGraphicFramePr>
            <p:xfrm>
              <a:off x="612775" y="1716088"/>
              <a:ext cx="10653713" cy="44500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529670">
                      <a:extLst>
                        <a:ext uri="{9D8B030D-6E8A-4147-A177-3AD203B41FA5}">
                          <a16:colId xmlns:a16="http://schemas.microsoft.com/office/drawing/2014/main" val="4283206560"/>
                        </a:ext>
                      </a:extLst>
                    </a:gridCol>
                    <a:gridCol w="1081825">
                      <a:extLst>
                        <a:ext uri="{9D8B030D-6E8A-4147-A177-3AD203B41FA5}">
                          <a16:colId xmlns:a16="http://schemas.microsoft.com/office/drawing/2014/main" val="2357137963"/>
                        </a:ext>
                      </a:extLst>
                    </a:gridCol>
                    <a:gridCol w="1262130">
                      <a:extLst>
                        <a:ext uri="{9D8B030D-6E8A-4147-A177-3AD203B41FA5}">
                          <a16:colId xmlns:a16="http://schemas.microsoft.com/office/drawing/2014/main" val="4140416527"/>
                        </a:ext>
                      </a:extLst>
                    </a:gridCol>
                    <a:gridCol w="1214211">
                      <a:extLst>
                        <a:ext uri="{9D8B030D-6E8A-4147-A177-3AD203B41FA5}">
                          <a16:colId xmlns:a16="http://schemas.microsoft.com/office/drawing/2014/main" val="1250876304"/>
                        </a:ext>
                      </a:extLst>
                    </a:gridCol>
                    <a:gridCol w="1521959">
                      <a:extLst>
                        <a:ext uri="{9D8B030D-6E8A-4147-A177-3AD203B41FA5}">
                          <a16:colId xmlns:a16="http://schemas.microsoft.com/office/drawing/2014/main" val="2304148264"/>
                        </a:ext>
                      </a:extLst>
                    </a:gridCol>
                    <a:gridCol w="1521959">
                      <a:extLst>
                        <a:ext uri="{9D8B030D-6E8A-4147-A177-3AD203B41FA5}">
                          <a16:colId xmlns:a16="http://schemas.microsoft.com/office/drawing/2014/main" val="2651018634"/>
                        </a:ext>
                      </a:extLst>
                    </a:gridCol>
                    <a:gridCol w="1521959">
                      <a:extLst>
                        <a:ext uri="{9D8B030D-6E8A-4147-A177-3AD203B41FA5}">
                          <a16:colId xmlns:a16="http://schemas.microsoft.com/office/drawing/2014/main" val="321259497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Funcția</a:t>
                          </a:r>
                          <a:r>
                            <a:rPr lang="en-US" dirty="0"/>
                            <a:t> hash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32558" t="-10345" r="-646512" b="-11344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88889" t="-10345" r="-461616" b="-11344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1042" t="-10345" r="-376042" b="-11344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833" t="-10345" r="-200833" b="-11344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833" t="-10345" r="-100833" b="-11344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00833" t="-10345" r="-833" b="-11344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41314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Funcția</a:t>
                          </a:r>
                          <a:r>
                            <a:rPr lang="en-US" dirty="0"/>
                            <a:t> </a:t>
                          </a:r>
                          <a:r>
                            <a:rPr lang="en-US" dirty="0" err="1"/>
                            <a:t>propusă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64.0771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50.0602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5.6502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4.4142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597488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Amin et al.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63.84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49.88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5.58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4.38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91922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Kanso</a:t>
                          </a:r>
                          <a:r>
                            <a:rPr lang="en-US" dirty="0"/>
                            <a:t> &amp; </a:t>
                          </a:r>
                          <a:r>
                            <a:rPr lang="en-US" dirty="0" err="1"/>
                            <a:t>Ghebleh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63.94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49.95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5.64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4.41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805567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Kanso</a:t>
                          </a:r>
                          <a:r>
                            <a:rPr lang="en-US" dirty="0"/>
                            <a:t> &amp; </a:t>
                          </a:r>
                          <a:r>
                            <a:rPr lang="en-US" dirty="0" err="1"/>
                            <a:t>Ghebleh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64.00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50.00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5.65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4.41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5009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Wu &amp; Wang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64.014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50.011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5.654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4.417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643126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Zhao et al.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63.9279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49.94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5.3234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4.16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688294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Li &amp; Li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64.0415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50.03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5.7929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4.53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392873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Ahmad et al.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63.781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49.828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5.937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4.638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930926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Boriga</a:t>
                          </a:r>
                          <a:r>
                            <a:rPr lang="en-US" dirty="0"/>
                            <a:t> &amp; </a:t>
                          </a:r>
                          <a:r>
                            <a:rPr lang="en-US" dirty="0" err="1"/>
                            <a:t>Tilcă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64.2136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50.3315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5.7040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4.3421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120251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Zaouia</a:t>
                          </a:r>
                          <a:r>
                            <a:rPr lang="en-US" dirty="0"/>
                            <a:t> et al.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64.005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43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84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50.004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5.582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4.361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171150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err="1"/>
                            <a:t>Valoarea</a:t>
                          </a:r>
                          <a:r>
                            <a:rPr lang="en-US" dirty="0"/>
                            <a:t> </a:t>
                          </a:r>
                          <a:r>
                            <a:rPr lang="en-US" dirty="0" err="1"/>
                            <a:t>ideală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0" kern="1200" dirty="0">
                              <a:solidFill>
                                <a:schemeClr val="dk1"/>
                              </a:solidFill>
                              <a:effectLst/>
                            </a:rPr>
                            <a:t>50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303805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051676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7A7B8-4D0D-5600-FA25-1C9C3BE4A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3E1B8-50E0-D686-54D6-358E5253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Comparația</a:t>
            </a:r>
            <a:r>
              <a:rPr lang="en-US" dirty="0"/>
              <a:t> cu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funcții</a:t>
            </a:r>
            <a:r>
              <a:rPr lang="en-US" dirty="0"/>
              <a:t> hash – </a:t>
            </a:r>
            <a:r>
              <a:rPr lang="en-US" dirty="0" err="1"/>
              <a:t>statistici</a:t>
            </a:r>
            <a:r>
              <a:rPr lang="en-US" dirty="0"/>
              <a:t> </a:t>
            </a:r>
            <a:r>
              <a:rPr lang="en-US" dirty="0" err="1"/>
              <a:t>rezistență</a:t>
            </a:r>
            <a:r>
              <a:rPr lang="en-US" dirty="0"/>
              <a:t> la </a:t>
            </a:r>
            <a:r>
              <a:rPr lang="en-US" dirty="0" err="1"/>
              <a:t>coliziuni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00C6032-08E4-775D-5CBA-E332782FF1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038402"/>
              </p:ext>
            </p:extLst>
          </p:nvPr>
        </p:nvGraphicFramePr>
        <p:xfrm>
          <a:off x="612513" y="2316480"/>
          <a:ext cx="10653713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4667">
                  <a:extLst>
                    <a:ext uri="{9D8B030D-6E8A-4147-A177-3AD203B41FA5}">
                      <a16:colId xmlns:a16="http://schemas.microsoft.com/office/drawing/2014/main" val="2119061477"/>
                    </a:ext>
                  </a:extLst>
                </a:gridCol>
                <a:gridCol w="1648496">
                  <a:extLst>
                    <a:ext uri="{9D8B030D-6E8A-4147-A177-3AD203B41FA5}">
                      <a16:colId xmlns:a16="http://schemas.microsoft.com/office/drawing/2014/main" val="2547760302"/>
                    </a:ext>
                  </a:extLst>
                </a:gridCol>
                <a:gridCol w="1390918">
                  <a:extLst>
                    <a:ext uri="{9D8B030D-6E8A-4147-A177-3AD203B41FA5}">
                      <a16:colId xmlns:a16="http://schemas.microsoft.com/office/drawing/2014/main" val="3972858839"/>
                    </a:ext>
                  </a:extLst>
                </a:gridCol>
                <a:gridCol w="1352282">
                  <a:extLst>
                    <a:ext uri="{9D8B030D-6E8A-4147-A177-3AD203B41FA5}">
                      <a16:colId xmlns:a16="http://schemas.microsoft.com/office/drawing/2014/main" val="1669553857"/>
                    </a:ext>
                  </a:extLst>
                </a:gridCol>
                <a:gridCol w="1326524">
                  <a:extLst>
                    <a:ext uri="{9D8B030D-6E8A-4147-A177-3AD203B41FA5}">
                      <a16:colId xmlns:a16="http://schemas.microsoft.com/office/drawing/2014/main" val="2556185181"/>
                    </a:ext>
                  </a:extLst>
                </a:gridCol>
                <a:gridCol w="1468192">
                  <a:extLst>
                    <a:ext uri="{9D8B030D-6E8A-4147-A177-3AD203B41FA5}">
                      <a16:colId xmlns:a16="http://schemas.microsoft.com/office/drawing/2014/main" val="3966055927"/>
                    </a:ext>
                  </a:extLst>
                </a:gridCol>
                <a:gridCol w="1362634">
                  <a:extLst>
                    <a:ext uri="{9D8B030D-6E8A-4147-A177-3AD203B41FA5}">
                      <a16:colId xmlns:a16="http://schemas.microsoft.com/office/drawing/2014/main" val="4194125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Funcția</a:t>
                      </a:r>
                      <a:r>
                        <a:rPr lang="en-US" dirty="0"/>
                        <a:t> hash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568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Funcția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propusă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498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Kanso</a:t>
                      </a:r>
                      <a:r>
                        <a:rPr lang="en-US" dirty="0"/>
                        <a:t> &amp; </a:t>
                      </a:r>
                      <a:r>
                        <a:rPr lang="en-US" dirty="0" err="1"/>
                        <a:t>Ghebleh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0934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 &amp; 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9495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780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Ahmad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9387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969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Valori </a:t>
                      </a:r>
                      <a:r>
                        <a:rPr lang="en-US" dirty="0" err="1"/>
                        <a:t>teoretice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9393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4742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33298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F97A8-5885-B4D3-FFE8-52665E850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Comparația</a:t>
            </a:r>
            <a:r>
              <a:rPr lang="en-US" dirty="0"/>
              <a:t> cu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funcții</a:t>
            </a:r>
            <a:r>
              <a:rPr lang="en-US" dirty="0"/>
              <a:t> hash – </a:t>
            </a:r>
            <a:r>
              <a:rPr lang="en-US" dirty="0" err="1"/>
              <a:t>statistici</a:t>
            </a:r>
            <a:r>
              <a:rPr lang="en-US" dirty="0"/>
              <a:t> </a:t>
            </a:r>
            <a:r>
              <a:rPr lang="en-US" dirty="0" err="1"/>
              <a:t>rezistență</a:t>
            </a:r>
            <a:r>
              <a:rPr lang="en-US" dirty="0"/>
              <a:t> la </a:t>
            </a:r>
            <a:r>
              <a:rPr lang="en-US" dirty="0" err="1"/>
              <a:t>coliziuni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56447EA-BC42-79DE-405F-CD5B90067E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3620357"/>
              </p:ext>
            </p:extLst>
          </p:nvPr>
        </p:nvGraphicFramePr>
        <p:xfrm>
          <a:off x="612516" y="2192607"/>
          <a:ext cx="1065371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30742">
                  <a:extLst>
                    <a:ext uri="{9D8B030D-6E8A-4147-A177-3AD203B41FA5}">
                      <a16:colId xmlns:a16="http://schemas.microsoft.com/office/drawing/2014/main" val="3812072525"/>
                    </a:ext>
                  </a:extLst>
                </a:gridCol>
                <a:gridCol w="2130742">
                  <a:extLst>
                    <a:ext uri="{9D8B030D-6E8A-4147-A177-3AD203B41FA5}">
                      <a16:colId xmlns:a16="http://schemas.microsoft.com/office/drawing/2014/main" val="692313730"/>
                    </a:ext>
                  </a:extLst>
                </a:gridCol>
                <a:gridCol w="2130742">
                  <a:extLst>
                    <a:ext uri="{9D8B030D-6E8A-4147-A177-3AD203B41FA5}">
                      <a16:colId xmlns:a16="http://schemas.microsoft.com/office/drawing/2014/main" val="1260294236"/>
                    </a:ext>
                  </a:extLst>
                </a:gridCol>
                <a:gridCol w="2130742">
                  <a:extLst>
                    <a:ext uri="{9D8B030D-6E8A-4147-A177-3AD203B41FA5}">
                      <a16:colId xmlns:a16="http://schemas.microsoft.com/office/drawing/2014/main" val="3674122886"/>
                    </a:ext>
                  </a:extLst>
                </a:gridCol>
                <a:gridCol w="2130742">
                  <a:extLst>
                    <a:ext uri="{9D8B030D-6E8A-4147-A177-3AD203B41FA5}">
                      <a16:colId xmlns:a16="http://schemas.microsoft.com/office/drawing/2014/main" val="19001713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Funcția</a:t>
                      </a:r>
                      <a:r>
                        <a:rPr lang="en-US" dirty="0"/>
                        <a:t> hash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Minim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Maxim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Medie/bytes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118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Funcția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propusă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364.9053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85.3066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094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Kanso</a:t>
                      </a:r>
                      <a:r>
                        <a:rPr lang="en-US" dirty="0"/>
                        <a:t> &amp; </a:t>
                      </a:r>
                      <a:r>
                        <a:rPr lang="en-US" dirty="0" err="1"/>
                        <a:t>Ghebleh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85.25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20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Kanso</a:t>
                      </a:r>
                      <a:r>
                        <a:rPr lang="en-US" dirty="0"/>
                        <a:t> &amp; </a:t>
                      </a:r>
                      <a:r>
                        <a:rPr lang="en-US" dirty="0" err="1"/>
                        <a:t>Ghebleh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1363.7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85.23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381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 &amp; 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1253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78.31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296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Ahmad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1374.1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85.88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759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Zaouia</a:t>
                      </a:r>
                      <a:r>
                        <a:rPr lang="en-US" dirty="0"/>
                        <a:t>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1365.03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85.31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0401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Valoarea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ideală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85.33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947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95705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FB4DD-C7C0-B34A-D1CB-F729CD0E2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Comparația</a:t>
            </a:r>
            <a:r>
              <a:rPr lang="en-US" dirty="0"/>
              <a:t> cu </a:t>
            </a:r>
            <a:r>
              <a:rPr lang="en-US" dirty="0" err="1"/>
              <a:t>alte</a:t>
            </a:r>
            <a:r>
              <a:rPr lang="en-US" dirty="0"/>
              <a:t> </a:t>
            </a:r>
            <a:r>
              <a:rPr lang="en-US" dirty="0" err="1"/>
              <a:t>funcții</a:t>
            </a:r>
            <a:r>
              <a:rPr lang="en-US" dirty="0"/>
              <a:t> hash - </a:t>
            </a:r>
            <a:r>
              <a:rPr lang="en-US" dirty="0" err="1"/>
              <a:t>viteză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9AB0C33-3491-865F-6BB7-A95F990D1A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6945253"/>
              </p:ext>
            </p:extLst>
          </p:nvPr>
        </p:nvGraphicFramePr>
        <p:xfrm>
          <a:off x="769274" y="1488440"/>
          <a:ext cx="10653451" cy="4820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89076">
                  <a:extLst>
                    <a:ext uri="{9D8B030D-6E8A-4147-A177-3AD203B41FA5}">
                      <a16:colId xmlns:a16="http://schemas.microsoft.com/office/drawing/2014/main" val="3709015627"/>
                    </a:ext>
                  </a:extLst>
                </a:gridCol>
                <a:gridCol w="2391976">
                  <a:extLst>
                    <a:ext uri="{9D8B030D-6E8A-4147-A177-3AD203B41FA5}">
                      <a16:colId xmlns:a16="http://schemas.microsoft.com/office/drawing/2014/main" val="366292016"/>
                    </a:ext>
                  </a:extLst>
                </a:gridCol>
                <a:gridCol w="5672399">
                  <a:extLst>
                    <a:ext uri="{9D8B030D-6E8A-4147-A177-3AD203B41FA5}">
                      <a16:colId xmlns:a16="http://schemas.microsoft.com/office/drawing/2014/main" val="2008809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Funcția</a:t>
                      </a:r>
                      <a:r>
                        <a:rPr lang="en-US" dirty="0"/>
                        <a:t> hash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Viteză</a:t>
                      </a:r>
                      <a:r>
                        <a:rPr lang="en-US" dirty="0"/>
                        <a:t> (MB/s)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Hardware </a:t>
                      </a:r>
                      <a:r>
                        <a:rPr lang="en-US" dirty="0" err="1"/>
                        <a:t>utilizat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53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Funcția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propusă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571.27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Apple M2 Pro, 8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nuclee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82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Funcția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propusă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741.35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AMD Ryzen 7 8845HS, 8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nuclee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944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eue Haas Grotesk Text Pro"/>
                          <a:ea typeface="+mn-ea"/>
                          <a:cs typeface="+mn-cs"/>
                        </a:rPr>
                        <a:t>Funcția propusă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eue Haas Grotesk Text Pro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511.90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Intel Xeon Platinum 8370C, 8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nuclee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697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eue Haas Grotesk Text Pro"/>
                          <a:ea typeface="+mn-ea"/>
                          <a:cs typeface="+mn-cs"/>
                        </a:rPr>
                        <a:t>Funcția propusă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eue Haas Grotesk Text Pro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93.11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Apple M2 Pro, 1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nucleu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5363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eue Haas Grotesk Text Pro"/>
                          <a:ea typeface="+mn-ea"/>
                          <a:cs typeface="+mn-cs"/>
                        </a:rPr>
                        <a:t>Funcția propusă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eue Haas Grotesk Text Pro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139.12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AMD Ryzen 7 8845HS, 1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nucleu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194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eue Haas Grotesk Text Pro"/>
                          <a:ea typeface="+mn-ea"/>
                          <a:cs typeface="+mn-cs"/>
                        </a:rPr>
                        <a:t>Funcția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eue Haas Grotesk Text Pro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eue Haas Grotesk Text Pro"/>
                          <a:ea typeface="+mn-ea"/>
                          <a:cs typeface="+mn-cs"/>
                        </a:rPr>
                        <a:t>propusă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eue Haas Grotesk Text Pro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85.73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Intel Xeon Platinum 8370C, 1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nucleu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778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Kanso</a:t>
                      </a:r>
                      <a:r>
                        <a:rPr lang="en-US" dirty="0"/>
                        <a:t> &amp; </a:t>
                      </a:r>
                      <a:r>
                        <a:rPr lang="en-US" dirty="0" err="1"/>
                        <a:t>Ghebleh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8.75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Intel Core i7 @ 2.70 GHz, 1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nucleu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619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Kanso</a:t>
                      </a:r>
                      <a:r>
                        <a:rPr lang="en-US" dirty="0"/>
                        <a:t> &amp; </a:t>
                      </a:r>
                      <a:r>
                        <a:rPr lang="en-US" dirty="0" err="1"/>
                        <a:t>Ghebleh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10.31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Intel Core i7-2600 @ 3.40 GHz, 1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nucleu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990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 &amp; 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16.51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Intel Pentium IV @ 2.50 GHz, 1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nucleu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7113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Kwok &amp; Tang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63.77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Intel Pentium IV @ 2.40 GHz, 1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nucleu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900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Boriga</a:t>
                      </a:r>
                      <a:r>
                        <a:rPr lang="en-US" dirty="0"/>
                        <a:t> &amp; </a:t>
                      </a:r>
                      <a:r>
                        <a:rPr lang="en-US" dirty="0" err="1"/>
                        <a:t>Tilcă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72.00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Intel Core i3 @ 2.53 GHz, 1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nucleu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391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Ahmad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116.65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Intel Core i5-6300U @ 2.40 GHz, 1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nucleu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881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3890109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</TotalTime>
  <Words>2118</Words>
  <Application>Microsoft Macintosh PowerPoint</Application>
  <PresentationFormat>Widescreen</PresentationFormat>
  <Paragraphs>379</Paragraphs>
  <Slides>33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Aptos</vt:lpstr>
      <vt:lpstr>Arial</vt:lpstr>
      <vt:lpstr>Cambria Math</vt:lpstr>
      <vt:lpstr>Neue Haas Grotesk Text Pro</vt:lpstr>
      <vt:lpstr>VanillaVTI</vt:lpstr>
      <vt:lpstr>O funcție hash paralelizabilă bazată pe sisteme dinamice discrete haotice</vt:lpstr>
      <vt:lpstr>Funcții hash</vt:lpstr>
      <vt:lpstr>Construcția sponge</vt:lpstr>
      <vt:lpstr>Sisteme haotice</vt:lpstr>
      <vt:lpstr>Sistemele haotice utilizate</vt:lpstr>
      <vt:lpstr>Baker’s map – convergența exponentului Lyapunov</vt:lpstr>
      <vt:lpstr>Baker’s map – exponenții Lyapunov</vt:lpstr>
      <vt:lpstr>Gingerbreadman map – exponenții Lyapunov</vt:lpstr>
      <vt:lpstr>Suprapunerea sistemelor</vt:lpstr>
      <vt:lpstr>Runda compusa – convergența exponentului Lyapunov</vt:lpstr>
      <vt:lpstr>Runa compusă – exponenții Lyapunov</vt:lpstr>
      <vt:lpstr>Funcția hash propusă</vt:lpstr>
      <vt:lpstr>Algoritmul pentru permutarea stării</vt:lpstr>
      <vt:lpstr>Arborele Merkle</vt:lpstr>
      <vt:lpstr>Sensibilitatea la mesaj</vt:lpstr>
      <vt:lpstr>PowerPoint Presentation</vt:lpstr>
      <vt:lpstr>Confuzie și difuzie</vt:lpstr>
      <vt:lpstr>PowerPoint Presentation</vt:lpstr>
      <vt:lpstr>Statistici confuzie și difuzie</vt:lpstr>
      <vt:lpstr>Rezistența la coliziuni</vt:lpstr>
      <vt:lpstr>Statistici rezistență la coliziuni</vt:lpstr>
      <vt:lpstr>Statistici rezistență la coliziuni</vt:lpstr>
      <vt:lpstr>Distribuția valorilor hash</vt:lpstr>
      <vt:lpstr>Statistici distribuția valorilor hash</vt:lpstr>
      <vt:lpstr>Flexibilitate</vt:lpstr>
      <vt:lpstr>Eficiență computațională</vt:lpstr>
      <vt:lpstr>Viteza funcției hash</vt:lpstr>
      <vt:lpstr>Viteza funcției hash</vt:lpstr>
      <vt:lpstr>Viteza funcției hash</vt:lpstr>
      <vt:lpstr>Comparația cu alte funcții hash – statistici confuzie și difuzie</vt:lpstr>
      <vt:lpstr>Comparația cu alte funcții hash – statistici rezistență la coliziuni</vt:lpstr>
      <vt:lpstr>Comparația cu alte funcții hash – statistici rezistență la coliziuni</vt:lpstr>
      <vt:lpstr>Comparația cu alte funcții hash - viteză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Aelenei</dc:creator>
  <cp:lastModifiedBy>Alex Aelenei</cp:lastModifiedBy>
  <cp:revision>8</cp:revision>
  <dcterms:created xsi:type="dcterms:W3CDTF">2026-06-27T07:52:24Z</dcterms:created>
  <dcterms:modified xsi:type="dcterms:W3CDTF">2026-06-28T18:27:39Z</dcterms:modified>
</cp:coreProperties>
</file>